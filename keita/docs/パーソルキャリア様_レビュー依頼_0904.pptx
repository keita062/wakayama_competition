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0000"/>
            <a:ext cx="108204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0" i="0">
                <a:solidFill>
                  <a:srgbClr val="9FC4D0"/>
                </a:solidFill>
                <a:latin typeface="Yu Gothic"/>
                <a:ea typeface="Yu Gothic"/>
                <a:cs typeface="Yu Gothic"/>
              </a:rPr>
              <a:t>第10回 和歌山県データ利活用コンペティション（大学生部門）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和歌山県 主観的ウェルビーイング分析</a:t>
            </a:r>
          </a:p>
          <a:p>
            <a:pPr algn="l">
              <a:lnSpc>
                <a:spcPct val="125000"/>
              </a:lnSpc>
              <a:spcAft>
                <a:spcPts val="3400"/>
              </a:spcAft>
            </a:pPr>
            <a:r>
              <a:rPr sz="2600" b="0" i="0">
                <a:solidFill>
                  <a:srgbClr val="7FD4DE"/>
                </a:solidFill>
                <a:latin typeface="Yu Gothic"/>
                <a:ea typeface="Yu Gothic"/>
                <a:cs typeface="Yu Gothic"/>
              </a:rPr>
              <a:t>分析設計レビュー会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8DF"/>
                </a:solidFill>
                <a:latin typeface="Yu Gothic"/>
                <a:ea typeface="Yu Gothic"/>
                <a:cs typeface="Yu Gothic"/>
              </a:rPr>
              <a:t>2026年9月4日　鈴木啓太・西村瞭一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EXECUTIVE SUMMARY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本日お時間をいただいた理由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000"/>
            <a:ext cx="10820400" cy="1520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0000" rIns="2200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和歌山県の住民の幸福度を上げるために、どの分野に、どんな手を打つべきかを明らかにする設計を組み、いま実装に入る直前です。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この設計を一通りご覧いただき、全体の筋から各ステップの狙いまで、気になった点をご指摘いただきたく、お時間をいただきました。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80000"/>
            <a:ext cx="50000" cy="152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060000"/>
            <a:ext cx="1731264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417064" y="3060000"/>
            <a:ext cx="4760976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いまの状態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3060000"/>
            <a:ext cx="4328160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本日いただきたいもの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420000"/>
            <a:ext cx="1731264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7064" y="3420000"/>
            <a:ext cx="4760976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2名で議論を重ね、一旦完成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3420000"/>
            <a:ext cx="432816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全体の筋がずれていないかのご指摘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20000"/>
            <a:ext cx="1731264" cy="5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実装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7064" y="3920000"/>
            <a:ext cx="4760976" cy="5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これから着手（コード・データはまだ0本）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3920000"/>
            <a:ext cx="4328160" cy="5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「実務ならここで止まる」という箇所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20000"/>
            <a:ext cx="1731264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締切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7064" y="4420000"/>
            <a:ext cx="4760976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応募 2026-10-08 ／ 最終審査会 12-12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4420000"/>
            <a:ext cx="432816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優先順位についてのご助言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AGENDA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本日の進め方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0000"/>
            <a:ext cx="560000" cy="56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5800" y="1590000"/>
            <a:ext cx="4450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本レビュー会の目的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80000"/>
            <a:ext cx="560000" cy="56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5800" y="2510000"/>
            <a:ext cx="4450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本会議の背景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00000"/>
            <a:ext cx="560000" cy="56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5800" y="3430000"/>
            <a:ext cx="4450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コンペの議題と募集テーマ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20000"/>
            <a:ext cx="560000" cy="56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5800" y="4350000"/>
            <a:ext cx="4450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分析の目的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6000" y="1460000"/>
            <a:ext cx="560000" cy="56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6000" y="1590000"/>
            <a:ext cx="4450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目的を叶えるための方法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6000" y="2380000"/>
            <a:ext cx="560000" cy="56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6000" y="2510000"/>
            <a:ext cx="4450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収集するデータ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6000" y="3300000"/>
            <a:ext cx="560000" cy="56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6000" y="3430000"/>
            <a:ext cx="4450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分析設計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1 ／ 本レビュー会の目的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実装前のいま、外部の目を入れたい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80000"/>
            <a:ext cx="10820400" cy="115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実装に入る前に、この設計で目的に到達できるかを確認すること。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0000"/>
            <a:ext cx="108204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実装前のこの段階であれば、いただいたご指摘を設計に反映できます。</a:t>
            </a:r>
          </a:p>
          <a:p>
            <a:pPr algn="l">
              <a:lnSpc>
                <a:spcPct val="125000"/>
              </a:lnSpc>
              <a:spcAft>
                <a:spcPts val="2400"/>
              </a:spcAft>
            </a:pPr>
            <a:r>
              <a:rPr sz="18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全体の筋から各ステップの狙いまで、幅広くご指摘いただけますと幸いです。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C05621"/>
                </a:solidFill>
                <a:latin typeface="Yu Gothic"/>
                <a:ea typeface="Yu Gothic"/>
                <a:cs typeface="Yu Gothic"/>
              </a:rPr>
              <a:t>説明の途中で止めていただいても構いません。「この前提が違う」「実務ではこうする」という一言が一番ありがたいです。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2 ／ 本会議の背景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分析設計を一旦完成させたところです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000"/>
            <a:ext cx="108204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2名で議論を重ね、設計を組み終えました。実装はこれからで、本日のレビューを反映したうえで着手します。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30000"/>
            <a:ext cx="4794269" cy="43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今後の予定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0069" y="2030000"/>
            <a:ext cx="2996418" cy="43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日程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60000"/>
            <a:ext cx="4794269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応募締切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0069" y="2460000"/>
            <a:ext cx="2996418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2026-10-08（木）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80000"/>
            <a:ext cx="4794269" cy="5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最終審査会（プレゼン）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0069" y="2980000"/>
            <a:ext cx="2996418" cy="5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2026-12-12（土）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3-1 ／ コンペの議題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第10回 和歌山県データ利活用コンペティション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000"/>
            <a:ext cx="2488691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4491" y="1280000"/>
            <a:ext cx="8331708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0000"/>
            <a:ext cx="2488691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募集テーマ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4491" y="1640000"/>
            <a:ext cx="8331708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「データで描くウェルビーング　地域の幸福度を高めるためのまちづくり」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60000"/>
            <a:ext cx="2488691" cy="4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主催 ／ 部門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4491" y="2060000"/>
            <a:ext cx="8331708" cy="4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和歌山県 ／ 大学生部門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80000"/>
            <a:ext cx="2488691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応募締切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4491" y="2480000"/>
            <a:ext cx="8331708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2026-10-08（木）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00000"/>
            <a:ext cx="2488691" cy="4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提出物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4491" y="2900000"/>
            <a:ext cx="8331708" cy="4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応募用紙（Word/PDF）＋ プレゼン資料（PowerPoint/PDF・10MB未満）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20000"/>
            <a:ext cx="2488691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審査の流れ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4491" y="3320000"/>
            <a:ext cx="8331708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事前審査（形式）→ 一次審査（書類・11月末までに通知）→ 最終審査（プレゼン）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40000"/>
            <a:ext cx="2488691" cy="4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最終審査会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4491" y="3740000"/>
            <a:ext cx="8331708" cy="4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2026-12-12（土）10:00〜／和歌山県データ利活用推進センター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160000"/>
            <a:ext cx="2488691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プレゼン時間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4491" y="4160000"/>
            <a:ext cx="8331708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大学生部門 14分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580000"/>
            <a:ext cx="2488691" cy="4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4491" y="4580000"/>
            <a:ext cx="8331708" cy="4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大賞20万円／データ利活用賞5万円／政策アイデア賞5万円（商品券・各部門1点）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3-2 ／ 審査の観点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この2点で審査されます（募集要項より）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000"/>
            <a:ext cx="5260200" cy="175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0000" rIns="280000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ア：データ利活用の観点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データを適切に利活用し、独自の着眼点からデータを分析し、地域の現状や課題を抽出できているか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80000"/>
            <a:ext cx="5260200" cy="8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6000" y="1280000"/>
            <a:ext cx="5260200" cy="175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0000" rIns="280000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イ：施策提案の観点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募集テーマに基づいた独自性・将来性のある施策提案であり、データ分析から得られたエビデンス（客観的証拠）に基づいているか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6000" y="1280000"/>
            <a:ext cx="5260200" cy="8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330000"/>
            <a:ext cx="10820400" cy="620000"/>
          </a:xfrm>
          <a:prstGeom prst="rect">
            <a:avLst/>
          </a:prstGeom>
          <a:solidFill>
            <a:srgbClr val="FDF1E7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00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C05621"/>
                </a:solidFill>
                <a:latin typeface="Yu Gothic"/>
                <a:ea typeface="Yu Gothic"/>
                <a:cs typeface="Yu Gothic"/>
              </a:rPr>
              <a:t>加えて「応募書類の不備や誤りなど、資料の完成度も審査します」と要項に明記されています。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4 ／ 分析の目的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80000"/>
            <a:ext cx="10820400" cy="160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0" rIns="400000"/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和歌山県の住民が実際に感じている幸福度
（主観的ウェルビーイング）を上げること。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30000"/>
            <a:ext cx="108204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※ 目的変数は「生活満足度」ではなく「幸福度」に置きます。住民が実際に感じている幸福を上げることが目的であり、募集テーマの言葉とも一致するためです。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5 ／ 目的を叶えるための方法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80000"/>
            <a:ext cx="10820400" cy="95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分析から政策提言までを行う。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0000"/>
            <a:ext cx="108204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理由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目的を叶えるには、データドリブンで幸福度を向上させる施策が何なのかを明確にし、手を打つことが必要だからです。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施策が明確になっていなければ手は打てず、手を打たなければ幸福度は上がりません。したがって、分析だけでも提言だけでもなく、分析から政策提言までを一続きで行うことを方法とします。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5 ／ この方法をとった後の状態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分析から政策提言までを終えたとき、次の4点を言える状態を目指します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000"/>
            <a:ext cx="541020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6820" y="1280000"/>
            <a:ext cx="5626608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言えるようにすること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3428" y="1280000"/>
            <a:ext cx="4652772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それが言えると何ができるか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40000"/>
            <a:ext cx="54102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26820" y="1640000"/>
            <a:ext cx="5626608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どの分野に手を打つべきか（優先順位と、その根拠）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3428" y="1640000"/>
            <a:ext cx="4652772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予算を振り向ける先が決まる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40000"/>
            <a:ext cx="541020" cy="6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6820" y="2240000"/>
            <a:ext cx="5626608" cy="6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その分野は、周知・運用で実感を上げられるのか／
環境そのものを変えないと上がらないのか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3428" y="2240000"/>
            <a:ext cx="4652772" cy="6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打つべき施策の型（ソフト／ハード）が決まる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40000"/>
            <a:ext cx="54102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6820" y="2840000"/>
            <a:ext cx="5626608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環境を変えるなら、どの指標を、どこまで動かすのか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3428" y="2840000"/>
            <a:ext cx="4652772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施策のターゲットと目標値が決まる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440000"/>
            <a:ext cx="541020" cy="6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6820" y="3440000"/>
            <a:ext cx="5626608" cy="6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その打ち手で、幸福度がどれだけ動くと見込めるのか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3428" y="3440000"/>
            <a:ext cx="4652772" cy="60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費用対効果を示して意思決定にかけられる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50000"/>
            <a:ext cx="108204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C05621"/>
                </a:solidFill>
                <a:latin typeface="Yu Gothic"/>
                <a:ea typeface="Yu Gothic"/>
                <a:cs typeface="Yu Gothic"/>
              </a:rPr>
              <a:t>この4点が埋まれば「和歌山県はここに、こう手を打つべき」という形で提言に落ちます。逆に、ここが埋まらない設計は目的を達成しません。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6-1 ／ 使うデータ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デジタル庁「地域幸福度（Well-Being）指標」ダッシュボード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000"/>
            <a:ext cx="10820400" cy="76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0000" rIns="2800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市区町村単位で、住民の実感（主観指標）と地域の環境水準（客観指標）が、同じ24分野の枠組みで並んで取れる。全国約530自治体分が公開。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80000"/>
            <a:ext cx="3678936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取れるもの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4736" y="2280000"/>
            <a:ext cx="7141464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分かること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40000"/>
            <a:ext cx="3678936" cy="4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幸福度（0〜10の総合スコア）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4736" y="2640000"/>
            <a:ext cx="7141464" cy="4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住民が全体としてどれだけ幸せを感じているか　→ これを目的変数にする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30000"/>
            <a:ext cx="3678936" cy="49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主観24分野（住民の実感）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4736" y="3130000"/>
            <a:ext cx="7141464" cy="49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24分野それぞれについて、住民が実際にどう感じているか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20000"/>
            <a:ext cx="3678936" cy="4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客観24分野（環境の水準）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4736" y="3620000"/>
            <a:ext cx="7141464" cy="4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同じ24分野について、地域の環境が客観的にどの水準にあるか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110000"/>
            <a:ext cx="3678936" cy="49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客観の個別KPI（208本）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4736" y="4110000"/>
            <a:ext cx="7141464" cy="49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客観24分野が、どの具体的な指標から成り立っているか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00000"/>
            <a:ext cx="3678936" cy="4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年代別の内訳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4736" y="4600000"/>
            <a:ext cx="7141464" cy="4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主観側は全分野が年代別に取れる　→ 年代によって実感がどう違うかを見られる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50000"/>
            <a:ext cx="108204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C05621"/>
                </a:solidFill>
                <a:latin typeface="Yu Gothic"/>
                <a:ea typeface="Yu Gothic"/>
                <a:cs typeface="Yu Gothic"/>
              </a:rPr>
              <a:t>主観と客観が同じ枠組みで並ぶため、「環境はあるのに、住民の実感が伴っていない分野」を特定できる。これが本分析の起点です。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6-2 ／ 24分野の内訳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0000"/>
            <a:ext cx="50000" cy="130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5800" y="1230000"/>
            <a:ext cx="10770400" cy="1300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0000" rIns="2800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生活環境（16）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医療・福祉／買物・飲食／住宅環境／移動・交通／遊び・娯楽／子育て／初等・中等教育／地域行政／デジタル生活／公共空間／都市景観／自然景観／自然の恵み／環境共生／自然災害／事故・犯罪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10000"/>
            <a:ext cx="50000" cy="80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5800" y="2710000"/>
            <a:ext cx="10770400" cy="800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0000" rIns="2800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地域の人間関係（2）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地域とのつながり／多様性と寛容性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90000"/>
            <a:ext cx="50000" cy="95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5800" y="3690000"/>
            <a:ext cx="10770400" cy="950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0000" rIns="2800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自分らしい生き方（6）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自己効力感／健康状態／文化・芸術／教育機会の豊かさ／雇用・所得／事業創造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6-3 ／ データの出所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主指標はすべて住民アンケート、客観指標は官庁統計からの合成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000"/>
            <a:ext cx="2813304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9104" y="1280000"/>
            <a:ext cx="8007096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出所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0000"/>
            <a:ext cx="2813304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主指標（主観）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104" y="1640000"/>
            <a:ext cx="8007096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すべて住民アンケート。デジタル庁が全国の自治体で実施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80000"/>
            <a:ext cx="2813304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客観指標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9104" y="2280000"/>
            <a:ext cx="8007096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官庁統計から合成。国交省「都市モニタリングシート」、厚労省「医療費の地域差分析」、
総務省「社会・人口統計体系」等。原出典まで公開されている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20000"/>
            <a:ext cx="2813304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環境変数（統制用）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9104" y="2920000"/>
            <a:ext cx="8007096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総務省（人口・高齢化率・財政力指数）。
ダッシュボードの外から足す変数で、自治体間の条件差を吸収するために置く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6-4 ／ 目的変数と分析単位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80000"/>
            <a:ext cx="2596896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2696" y="1080000"/>
            <a:ext cx="8223504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40000"/>
            <a:ext cx="2596896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目的変数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82696" y="1440000"/>
            <a:ext cx="8223504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幸福度（0〜10の生値）。コンペのテーマ名に一致させる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20000"/>
            <a:ext cx="2596896" cy="68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説明変数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2120000"/>
            <a:ext cx="8223504" cy="68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主観24分野・客観24分野（いずれも偏差値）、客観の個別KPI（実数）、
環境変数（人口・高齢化率・財政力指数などの地域条件。統制変数として置く）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00000"/>
            <a:ext cx="2596896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分析単位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2800000"/>
            <a:ext cx="8223504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1行 ＝ 1自治体 × 1年度 × 1年代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80000"/>
            <a:ext cx="2596896" cy="68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対象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3480000"/>
            <a:ext cx="8223504" cy="68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推定は全国の自治体、診断の対象は和歌山。
全国データで「同水準の自治体ならこのくらい」という物差しを作り、それを和歌山に当てる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7-1 ／ この資料で使う言葉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分析設計の説明に入る前に、以下の5語を定義します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000"/>
            <a:ext cx="2813304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言葉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9104" y="1280000"/>
            <a:ext cx="8007096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指すもの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0000"/>
            <a:ext cx="2813304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幸福度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104" y="1640000"/>
            <a:ext cx="8007096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目的変数。住民に直接たずねた0〜10の総合スコア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10000"/>
            <a:ext cx="2813304" cy="57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主観スコア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9104" y="2210000"/>
            <a:ext cx="8007096" cy="57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24分野それぞれの、住民の実感の値（偏差値）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80000"/>
            <a:ext cx="2813304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客観スコア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9104" y="2780000"/>
            <a:ext cx="8007096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24分野それぞれの、地域の環境水準の値（偏差値）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50000"/>
            <a:ext cx="2813304" cy="57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客観的構成値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9104" y="3350000"/>
            <a:ext cx="8007096" cy="57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客観スコアを組み立てている個別KPI（24分野あわせて208本）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920000"/>
            <a:ext cx="2813304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追加要因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9104" y="3920000"/>
            <a:ext cx="8007096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客観的構成値に含まれていないが、主観スコアに関係している可能性のある要因
（情報の届き方、予約のしやすさ、運用など）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7-2 ／ 全体の流れ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分析は9ステップですが、かたまりで見ると4つです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00000"/>
            <a:ext cx="830000" cy="81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5800" y="1400000"/>
            <a:ext cx="8090400" cy="810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どの分野を扱うかを決める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6200" y="1400000"/>
            <a:ext cx="19000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STEP 1・2</a:t>
            </a:r>
          </a:p>
        </p:txBody>
      </p:sp>
      <p:sp>
        <p:nvSpPr>
          <p:cNvPr id="9" name="Down Arrow 8"/>
          <p:cNvSpPr/>
          <p:nvPr/>
        </p:nvSpPr>
        <p:spPr>
          <a:xfrm>
            <a:off x="985800" y="2230000"/>
            <a:ext cx="230000" cy="260000"/>
          </a:xfrm>
          <a:prstGeom prst="downArrow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510000"/>
            <a:ext cx="830000" cy="81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5800" y="2510000"/>
            <a:ext cx="8090400" cy="810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その分野の実感が、環境の数字で説明できるかを判定する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6200" y="2510000"/>
            <a:ext cx="19000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STEP 3・4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85800" y="3340000"/>
            <a:ext cx="230000" cy="260000"/>
          </a:xfrm>
          <a:prstGeom prst="downArrow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5800" y="3360000"/>
            <a:ext cx="46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C05621"/>
                </a:solidFill>
                <a:latin typeface="Yu Gothic"/>
                <a:ea typeface="Yu Gothic"/>
                <a:cs typeface="Yu Gothic"/>
              </a:rPr>
              <a:t>ここで道が2つに分かれる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20000"/>
            <a:ext cx="830000" cy="810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5800" y="3620000"/>
            <a:ext cx="8090400" cy="810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何をどこまで動かすと、実感がどれだけ動くかを出す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6200" y="3620000"/>
            <a:ext cx="19000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STEP 5・6・7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85800" y="4450000"/>
            <a:ext cx="230000" cy="260000"/>
          </a:xfrm>
          <a:prstGeom prst="downArrow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730000"/>
            <a:ext cx="830000" cy="81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15800" y="4730000"/>
            <a:ext cx="8090400" cy="810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行政が打てる手に翻訳する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6200" y="4730000"/>
            <a:ext cx="19000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STEP 8・9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7-2 ／ 9ステップ（①分野を絞る・②道を分ける）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80000"/>
            <a:ext cx="1406652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092452" y="1080000"/>
            <a:ext cx="757427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9879" y="1080000"/>
            <a:ext cx="4977383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7827262" y="1080000"/>
            <a:ext cx="3678936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ここで分かること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440000"/>
            <a:ext cx="1406652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① 分野を絞る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2452" y="1440000"/>
            <a:ext cx="757427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9879" y="1440000"/>
            <a:ext cx="4977383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24分野の主観スコアと幸福度の関連性を確認する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7262" y="1440000"/>
            <a:ext cx="3678936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幸福度と関連が大きい分野はどれか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80000"/>
            <a:ext cx="1406652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2092452" y="2080000"/>
            <a:ext cx="757427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49879" y="2080000"/>
            <a:ext cx="4977383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重点カテゴリーを選定する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27262" y="2080000"/>
            <a:ext cx="3678936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そのうち、和歌山が優先的に扱うべき分野はどれか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720000"/>
            <a:ext cx="1406652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② 道を分ける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2452" y="2720000"/>
            <a:ext cx="757427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49879" y="2720000"/>
            <a:ext cx="4977383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重点カテゴリーの主観スコアを、客観的構成値で説明できるかを確認する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7262" y="2720000"/>
            <a:ext cx="3678936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環境の数字で説明がつく分野か、つかない分野か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60000"/>
            <a:ext cx="1406652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092452" y="3360000"/>
            <a:ext cx="757427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4A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49879" y="3360000"/>
            <a:ext cx="4977383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【説明できる場合】客観的構成値をそのまま改善候補として扱う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27262" y="3360000"/>
            <a:ext cx="3678936" cy="64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改善候補（既存のKPI）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000000"/>
            <a:ext cx="1406652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092452" y="4000000"/>
            <a:ext cx="757427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4B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49879" y="4000000"/>
            <a:ext cx="4977383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【説明できない場合】追加要因を探索し、改善候補に加える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7262" y="4000000"/>
            <a:ext cx="3678936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改善候補（既存のKPI ＋ 追加要因）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7-2 ／ 9ステップ（③効き目を見積もる・④施策にする）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80000"/>
            <a:ext cx="1406652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092452" y="1080000"/>
            <a:ext cx="757427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9879" y="1080000"/>
            <a:ext cx="4977383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7827262" y="1080000"/>
            <a:ext cx="3678936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ここで分かること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440000"/>
            <a:ext cx="1406652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③ 効き目を
　 見積もる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2452" y="1440000"/>
            <a:ext cx="757427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9879" y="1440000"/>
            <a:ext cx="4977383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改善候補のうち、伸ばすと実感が動きそうなものに絞り込む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7262" y="1440000"/>
            <a:ext cx="3678936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効きそうな候補はどれか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60000"/>
            <a:ext cx="1406652" cy="6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2092452" y="2060000"/>
            <a:ext cx="757427" cy="6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49879" y="2060000"/>
            <a:ext cx="4977383" cy="6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和歌山に、その数値を伸ばす余地があるかを確認する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27262" y="2060000"/>
            <a:ext cx="3678936" cy="6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実際に動かせる候補はどれか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80000"/>
            <a:ext cx="1406652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2092452" y="2680000"/>
            <a:ext cx="757427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49879" y="2680000"/>
            <a:ext cx="4977383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候補に目標値を置き、主観スコアの変化を試算する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7262" y="2680000"/>
            <a:ext cx="3678936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どこまで動かすと、実感がどれだけ動くか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00000"/>
            <a:ext cx="1406652" cy="6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④ 施策にする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92452" y="3300000"/>
            <a:ext cx="757427" cy="6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49879" y="3300000"/>
            <a:ext cx="4977383" cy="6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行政施策の介入可能性と時間軸を整理する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27262" y="3300000"/>
            <a:ext cx="3678936" cy="62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短期・中期・長期のどれで打てる手か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920000"/>
            <a:ext cx="1406652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092452" y="3920000"/>
            <a:ext cx="757427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49879" y="3920000"/>
            <a:ext cx="4977383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政策提案とロードマップを作成する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7262" y="3920000"/>
            <a:ext cx="3678936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和歌山が、何を、いつやるべきか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5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※ 改善候補 ＝ STEP 4A では「客観的構成値」、STEP 4B では「客観的構成値」＋探索した「追加要因」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0000"/>
            <a:ext cx="50000" cy="43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5800" y="40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7-3 ／ 設計の要は STEP 3 の分岐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2344D"/>
                </a:solidFill>
                <a:latin typeface="Yu Gothic"/>
                <a:ea typeface="Yu Gothic"/>
                <a:cs typeface="Yu Gothic"/>
              </a:rPr>
              <a:t>同じ「主観スコアが低い」でも、背景は2通りあります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70000"/>
            <a:ext cx="10820400" cy="9000"/>
          </a:xfrm>
          <a:prstGeom prst="rect">
            <a:avLst/>
          </a:prstGeom>
          <a:solidFill>
            <a:srgbClr val="D5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000"/>
            <a:ext cx="1514855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200655" y="1280000"/>
            <a:ext cx="4652772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状況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3427" y="1280000"/>
            <a:ext cx="4652772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意味すること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40000"/>
            <a:ext cx="1514855" cy="5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ケースA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00655" y="1640000"/>
            <a:ext cx="4652772" cy="5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客観スコアが低く、主観スコアも低い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3427" y="1640000"/>
            <a:ext cx="4652772" cy="5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環境そのものが足りていない可能性がある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30000"/>
            <a:ext cx="1514855" cy="59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ケースB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0655" y="2230000"/>
            <a:ext cx="4652772" cy="59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客観スコアは一定水準だが、主観スコアは低い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3427" y="2230000"/>
            <a:ext cx="4652772" cy="59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既存の客観指標では、実感の低さを説明しきれていない可能性がある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20000"/>
            <a:ext cx="10820400" cy="500000"/>
          </a:xfrm>
          <a:prstGeom prst="rect">
            <a:avLst/>
          </a:prstGeom>
          <a:solidFill>
            <a:srgbClr val="FDF1E7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C05621"/>
                </a:solidFill>
                <a:latin typeface="Yu Gothic"/>
                <a:ea typeface="Yu Gothic"/>
                <a:cs typeface="Yu Gothic"/>
              </a:rPr>
              <a:t>この2つを分けずに進めると、打ち手が「施設を増やす」一辺倒になり、和歌山が実行できない提言になります。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20000"/>
            <a:ext cx="1514855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ルート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0655" y="3720000"/>
            <a:ext cx="1947672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判定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8327" y="3720000"/>
            <a:ext cx="3895344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次にやること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3671" y="3720000"/>
            <a:ext cx="3462528" cy="360000"/>
          </a:xfrm>
          <a:prstGeom prst="rect">
            <a:avLst/>
          </a:prstGeom>
          <a:solidFill>
            <a:srgbClr val="12344D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想定される政策の型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80000"/>
            <a:ext cx="1514855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ルートA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0655" y="4080000"/>
            <a:ext cx="1947672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説明できる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8327" y="4080000"/>
            <a:ext cx="3895344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STEP 4A：個別KPI（客観的構成値）まで掘り下げる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3671" y="4080000"/>
            <a:ext cx="3462528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ハード寄り（環境の水準そのものを上げる）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640000"/>
            <a:ext cx="1514855" cy="56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ルートB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0655" y="4640000"/>
            <a:ext cx="1947672" cy="56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説明できない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8327" y="4640000"/>
            <a:ext cx="3895344" cy="56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STEP 4B：客観環境が同程度の自治体を集めて比較し、追加要因を探す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3671" y="4640000"/>
            <a:ext cx="3462528" cy="560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36000" bIns="3600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ソフト寄り（周知・運用・使いやすさを上げる）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本日はお時間をいただき、ありがとうございます。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C9D8DF"/>
                </a:solidFill>
                <a:latin typeface="Yu Gothic"/>
                <a:ea typeface="Yu Gothic"/>
                <a:cs typeface="Yu Gothic"/>
              </a:rPr>
              <a:t>いただいたご指摘は、実装前の設計に反映いたします。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6200" y="6298000"/>
            <a:ext cx="7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7A8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