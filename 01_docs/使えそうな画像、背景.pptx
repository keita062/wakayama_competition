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146847316" r:id="rId3"/>
    <p:sldId id="258" r:id="rId4"/>
    <p:sldId id="261" r:id="rId5"/>
    <p:sldId id="265" r:id="rId6"/>
    <p:sldId id="262" r:id="rId7"/>
    <p:sldId id="266" r:id="rId8"/>
    <p:sldId id="267" r:id="rId9"/>
    <p:sldId id="2146847317" r:id="rId10"/>
    <p:sldId id="2146847312" r:id="rId11"/>
    <p:sldId id="2146847314" r:id="rId12"/>
    <p:sldId id="2146847313" r:id="rId13"/>
    <p:sldId id="2146847315" r:id="rId14"/>
    <p:sldId id="2146847310" r:id="rId15"/>
    <p:sldId id="259" r:id="rId16"/>
    <p:sldId id="260"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shimura" initials="n" lastIdx="1" clrIdx="0">
    <p:extLst>
      <p:ext uri="{19B8F6BF-5375-455C-9EA6-DF929625EA0E}">
        <p15:presenceInfo xmlns:p15="http://schemas.microsoft.com/office/powerpoint/2012/main" userId="nishimur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4660"/>
  </p:normalViewPr>
  <p:slideViewPr>
    <p:cSldViewPr snapToGrid="0">
      <p:cViewPr varScale="1">
        <p:scale>
          <a:sx n="56" d="100"/>
          <a:sy n="56" d="100"/>
        </p:scale>
        <p:origin x="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C96-0B44-4EA0-8BCD-49A3F827D913}" type="datetimeFigureOut">
              <a:rPr kumimoji="1" lang="ja-JP" altLang="en-US" smtClean="0"/>
              <a:t>2026/10/7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332E5-8106-4BD3-AED2-D7D5DF2880A5}" type="slidenum">
              <a:rPr kumimoji="1" lang="ja-JP" altLang="en-US" smtClean="0"/>
              <a:t>‹#›</a:t>
            </a:fld>
            <a:endParaRPr kumimoji="1" lang="ja-JP" altLang="en-US"/>
          </a:p>
        </p:txBody>
      </p:sp>
    </p:spTree>
    <p:extLst>
      <p:ext uri="{BB962C8B-B14F-4D97-AF65-F5344CB8AC3E}">
        <p14:creationId xmlns:p14="http://schemas.microsoft.com/office/powerpoint/2010/main" val="302475398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E1B14DC-F28C-46B8-9E47-CCCB3F31AC2B}" type="slidenum">
              <a:rPr kumimoji="1" lang="ja-JP" altLang="en-US" smtClean="0"/>
              <a:t>14</a:t>
            </a:fld>
            <a:endParaRPr kumimoji="1" lang="ja-JP" altLang="en-US"/>
          </a:p>
        </p:txBody>
      </p:sp>
    </p:spTree>
    <p:extLst>
      <p:ext uri="{BB962C8B-B14F-4D97-AF65-F5344CB8AC3E}">
        <p14:creationId xmlns:p14="http://schemas.microsoft.com/office/powerpoint/2010/main" val="567281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F7CAA9-F93D-4EF5-9133-041FF8AF297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A359E01-B7B0-4651-8529-8CF583DCB2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A9B0220-100B-4E0C-9BAB-063F0FE63F0D}"/>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6964D079-0D69-4F7A-853D-317EC622F2B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C1F158-B4D6-4926-AF25-206CB38A4662}"/>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210849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AF5473-E895-48A7-B0DD-7528DB33539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EB9D47-D5EA-4EA4-8185-A78440B00A0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4AD872-BF3D-4BEB-985F-0CBFB3178213}"/>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0B4B5B53-339A-412B-BD85-8B66EA3BFB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2CBD419-9EBA-43FF-A95E-891DB6DA0383}"/>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3028046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48BEB2-A36F-4835-B98F-2A32B3FA29D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1EF8606-C789-4F9B-B5E5-392EEA94DB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58D3A4D-EA1F-45E4-BE04-20E09A5C5655}"/>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B5CFB3AF-74A9-4D54-B89C-BA3057EF7E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6177A5-B16C-482E-BF17-3046DDE861C0}"/>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199666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CFB2A7-EF5A-4390-8518-A507B45A3C6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E61D5AB-7A6F-4119-85CF-DBC45AA54BE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0AAE8E-39EA-4F52-9C8A-6A856B58D5C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395B3F5-FDA2-4912-BD30-28E5B4D37D5E}"/>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6" name="フッター プレースホルダー 5">
            <a:extLst>
              <a:ext uri="{FF2B5EF4-FFF2-40B4-BE49-F238E27FC236}">
                <a16:creationId xmlns:a16="http://schemas.microsoft.com/office/drawing/2014/main" id="{9160AABB-3874-46BE-91B6-D042CED1B2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EBACEE2-02A2-4D9B-AE0C-B90A54727503}"/>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2784194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F532D8-2AC9-4358-B009-6BC8F4D06C5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B5C5D4E-68D9-48FF-A6C4-95A4181FF1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B2B4073-6864-4C00-BC0B-1D30DD09407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1F567EA-77F1-499E-9638-29F601036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F9261F0-B1CE-4452-A984-FDA0A9783F2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881D35C-112D-46EF-90E1-110327BAF675}"/>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8" name="フッター プレースホルダー 7">
            <a:extLst>
              <a:ext uri="{FF2B5EF4-FFF2-40B4-BE49-F238E27FC236}">
                <a16:creationId xmlns:a16="http://schemas.microsoft.com/office/drawing/2014/main" id="{ED60C512-D7C7-45E6-88EE-6B34361081F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08E9B61-DFB7-4EEC-8140-5F1C488037EE}"/>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2246424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224BF9-72D3-4B84-8362-B6904D7578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8A9FA89-0050-4A50-BA2F-4914D019836D}"/>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4" name="フッター プレースホルダー 3">
            <a:extLst>
              <a:ext uri="{FF2B5EF4-FFF2-40B4-BE49-F238E27FC236}">
                <a16:creationId xmlns:a16="http://schemas.microsoft.com/office/drawing/2014/main" id="{101642B6-739C-4A28-883D-74910404B36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C5C604C-09DA-47E8-B303-5B2956EF7B79}"/>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124220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016F9B8-74BE-43EF-B040-29AD1ADC7C5D}"/>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3" name="フッター プレースホルダー 2">
            <a:extLst>
              <a:ext uri="{FF2B5EF4-FFF2-40B4-BE49-F238E27FC236}">
                <a16:creationId xmlns:a16="http://schemas.microsoft.com/office/drawing/2014/main" id="{D9A8C739-8D5A-4693-8F4D-903799227E9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A43471C-F1F6-46FF-812F-4006A426E1A6}"/>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388069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8A446C-402B-4C46-85A0-851EE10893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B242DE6-3C20-4319-A45D-C6A58B2B70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1E0F9D3-6976-4869-976D-0FAFBC13A2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053C4F-89E5-4901-B423-C0F7A35E0967}"/>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6" name="フッター プレースホルダー 5">
            <a:extLst>
              <a:ext uri="{FF2B5EF4-FFF2-40B4-BE49-F238E27FC236}">
                <a16:creationId xmlns:a16="http://schemas.microsoft.com/office/drawing/2014/main" id="{0BEE2BE4-112A-46DB-8E7E-A4A278AF56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EA25873-5D12-4EF3-8369-7EEEA93A0F06}"/>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1944715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B1E7B9-E47F-4AA7-A3F2-54309C3D7CC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D985EC6-C559-430C-82E5-5EA2604FA5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F8F22C2-9F3B-4961-B343-E1910D5190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2160E93-A6BC-4599-9F83-86DDF3C46DC3}"/>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6" name="フッター プレースホルダー 5">
            <a:extLst>
              <a:ext uri="{FF2B5EF4-FFF2-40B4-BE49-F238E27FC236}">
                <a16:creationId xmlns:a16="http://schemas.microsoft.com/office/drawing/2014/main" id="{360093E5-8BE3-40EA-9F9C-14550D4B6A4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73532D-68A2-49C3-BDFE-1CF9EE3A458A}"/>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2125270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DF4229-E8F0-43EC-B545-E03EF557D0A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45F1B86-A796-459A-B984-6E0F5AB7BA2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B352E48-28C2-461D-AD3C-F01ACF395F47}"/>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A1F0F465-BE73-477F-8AA7-C37BAB7C34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1F69A5-ECC7-4979-B0DA-DF2F6A5EDDDB}"/>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293626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0B95DB0-AF3B-485A-BB2E-FE272986B78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29A707F-D50D-42F3-9944-CA86CA72A39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952BE9-9C7D-4D49-877F-5E7718E5852C}"/>
              </a:ext>
            </a:extLst>
          </p:cNvPr>
          <p:cNvSpPr>
            <a:spLocks noGrp="1"/>
          </p:cNvSpPr>
          <p:nvPr>
            <p:ph type="dt" sz="half" idx="10"/>
          </p:nvPr>
        </p:nvSpPr>
        <p:spPr/>
        <p:txBody>
          <a:bodyPr/>
          <a:lstStyle/>
          <a:p>
            <a:fld id="{D13969E4-BFD8-4E1F-A592-A4E97C36B06A}" type="datetimeFigureOut">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0B679741-D921-444F-915C-39DB80463C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EEA540-C7A6-4F1E-B11D-3181A3FE3318}"/>
              </a:ext>
            </a:extLst>
          </p:cNvPr>
          <p:cNvSpPr>
            <a:spLocks noGrp="1"/>
          </p:cNvSpPr>
          <p:nvPr>
            <p:ph type="sldNum" sz="quarter" idx="12"/>
          </p:nvPr>
        </p:nvSpPr>
        <p:spPr/>
        <p:txBody>
          <a:body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518492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キーメッセージ・説明テキスト">
    <p:spTree>
      <p:nvGrpSpPr>
        <p:cNvPr id="1" name=""/>
        <p:cNvGrpSpPr/>
        <p:nvPr/>
      </p:nvGrpSpPr>
      <p:grpSpPr>
        <a:xfrm>
          <a:off x="0" y="0"/>
          <a:ext cx="0" cy="0"/>
          <a:chOff x="0" y="0"/>
          <a:chExt cx="0" cy="0"/>
        </a:xfrm>
      </p:grpSpPr>
      <p:sp>
        <p:nvSpPr>
          <p:cNvPr id="8" name="タイトル 1"/>
          <p:cNvSpPr>
            <a:spLocks noGrp="1"/>
          </p:cNvSpPr>
          <p:nvPr>
            <p:ph type="title" hasCustomPrompt="1"/>
          </p:nvPr>
        </p:nvSpPr>
        <p:spPr>
          <a:xfrm>
            <a:off x="732560" y="223338"/>
            <a:ext cx="10716963" cy="315000"/>
          </a:xfrm>
          <a:prstGeom prst="rect">
            <a:avLst/>
          </a:prstGeom>
        </p:spPr>
        <p:txBody>
          <a:bodyPr lIns="0" tIns="0" rIns="0" bIns="0"/>
          <a:lstStyle>
            <a:lvl1pPr>
              <a:lnSpc>
                <a:spcPct val="100000"/>
              </a:lnSpc>
              <a:defRPr sz="1400" baseline="0"/>
            </a:lvl1pPr>
          </a:lstStyle>
          <a:p>
            <a:r>
              <a:rPr kumimoji="1" lang="ja-JP" altLang="en-US" dirty="0"/>
              <a:t>タイトル（ページ概要）</a:t>
            </a:r>
          </a:p>
        </p:txBody>
      </p:sp>
      <p:sp>
        <p:nvSpPr>
          <p:cNvPr id="7" name="Slide Number Placeholder 5">
            <a:extLst>
              <a:ext uri="{FF2B5EF4-FFF2-40B4-BE49-F238E27FC236}">
                <a16:creationId xmlns:a16="http://schemas.microsoft.com/office/drawing/2014/main" id="{649A9061-AC22-6A51-F154-31B3ADA94D25}"/>
              </a:ext>
            </a:extLst>
          </p:cNvPr>
          <p:cNvSpPr>
            <a:spLocks noGrp="1"/>
          </p:cNvSpPr>
          <p:nvPr>
            <p:ph type="sldNum" sz="quarter" idx="12"/>
          </p:nvPr>
        </p:nvSpPr>
        <p:spPr>
          <a:xfrm>
            <a:off x="9270559" y="6332496"/>
            <a:ext cx="2743200" cy="365125"/>
          </a:xfrm>
        </p:spPr>
        <p:txBody>
          <a:bodyPr/>
          <a:lstStyle/>
          <a:p>
            <a:fld id="{490CEB6B-C828-43D0-A048-D2C0475C49A4}" type="slidenum">
              <a:rPr kumimoji="1" lang="ja-JP" altLang="en-US" smtClean="0"/>
              <a:t>‹#›</a:t>
            </a:fld>
            <a:endParaRPr kumimoji="1" lang="ja-JP" altLang="en-US" dirty="0"/>
          </a:p>
        </p:txBody>
      </p:sp>
    </p:spTree>
    <p:extLst>
      <p:ext uri="{BB962C8B-B14F-4D97-AF65-F5344CB8AC3E}">
        <p14:creationId xmlns:p14="http://schemas.microsoft.com/office/powerpoint/2010/main" val="71036437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2F92E18-1D44-455F-A1DE-FDB2D35EF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05D9366-F529-4963-ACD5-F959A51761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5230B3F-F3B9-4F42-82AA-D0E50E910D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969E4-BFD8-4E1F-A592-A4E97C36B06A}" type="datetimeFigureOut">
              <a:rPr kumimoji="1" lang="ja-JP" altLang="en-US" smtClean="0"/>
              <a:t>2026/10/7</a:t>
            </a:fld>
            <a:endParaRPr kumimoji="1" lang="ja-JP" altLang="en-US"/>
          </a:p>
        </p:txBody>
      </p:sp>
      <p:sp>
        <p:nvSpPr>
          <p:cNvPr id="5" name="フッター プレースホルダー 4">
            <a:extLst>
              <a:ext uri="{FF2B5EF4-FFF2-40B4-BE49-F238E27FC236}">
                <a16:creationId xmlns:a16="http://schemas.microsoft.com/office/drawing/2014/main" id="{B45DF6BE-2544-4E04-AFA6-B3D2EF85AA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D58F484-3722-403B-AF3F-2E7631B533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F6456B-F49B-4326-A189-6309693ED9C3}" type="slidenum">
              <a:rPr kumimoji="1" lang="ja-JP" altLang="en-US" smtClean="0"/>
              <a:t>‹#›</a:t>
            </a:fld>
            <a:endParaRPr kumimoji="1" lang="ja-JP" altLang="en-US"/>
          </a:p>
        </p:txBody>
      </p:sp>
    </p:spTree>
    <p:extLst>
      <p:ext uri="{BB962C8B-B14F-4D97-AF65-F5344CB8AC3E}">
        <p14:creationId xmlns:p14="http://schemas.microsoft.com/office/powerpoint/2010/main" val="3675826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5.cao.go.jp/keizai2/wellbeing/manzoku/pdf/report08.pdf"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5.cao.go.jp/keizai2/wellbeing/manzoku/pdf/report08.pdf" TargetMode="External"/><Relationship Id="rId2" Type="http://schemas.openxmlformats.org/officeDocument/2006/relationships/hyperlink" Target="https://www.persol-group.co.jp/sustainability/well-being/abou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3F88B3-5F0E-486E-BEDC-A59B2C4CAB31}"/>
              </a:ext>
            </a:extLst>
          </p:cNvPr>
          <p:cNvSpPr>
            <a:spLocks noGrp="1"/>
          </p:cNvSpPr>
          <p:nvPr>
            <p:ph type="ctrTitle"/>
          </p:nvPr>
        </p:nvSpPr>
        <p:spPr/>
        <p:txBody>
          <a:bodyPr/>
          <a:lstStyle/>
          <a:p>
            <a:r>
              <a:rPr kumimoji="1" lang="en-US" altLang="ja-JP" dirty="0"/>
              <a:t>Well-being</a:t>
            </a:r>
            <a:endParaRPr kumimoji="1" lang="ja-JP" altLang="en-US" dirty="0"/>
          </a:p>
        </p:txBody>
      </p:sp>
      <p:sp>
        <p:nvSpPr>
          <p:cNvPr id="3" name="字幕 2">
            <a:extLst>
              <a:ext uri="{FF2B5EF4-FFF2-40B4-BE49-F238E27FC236}">
                <a16:creationId xmlns:a16="http://schemas.microsoft.com/office/drawing/2014/main" id="{66563B76-9512-473C-807D-C77DBCF1E7E5}"/>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2936869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17C29-1DEC-42AB-A0BC-A76DCD467B06}"/>
              </a:ext>
            </a:extLst>
          </p:cNvPr>
          <p:cNvSpPr>
            <a:spLocks noGrp="1"/>
          </p:cNvSpPr>
          <p:nvPr>
            <p:ph type="title"/>
          </p:nvPr>
        </p:nvSpPr>
        <p:spPr/>
        <p:txBody>
          <a:bodyPr/>
          <a:lstStyle/>
          <a:p>
            <a:r>
              <a:rPr kumimoji="1" lang="ja-JP" altLang="en-US" dirty="0"/>
              <a:t>背景で書く内容</a:t>
            </a:r>
          </a:p>
        </p:txBody>
      </p:sp>
      <p:sp>
        <p:nvSpPr>
          <p:cNvPr id="3" name="コンテンツ プレースホルダー 2">
            <a:extLst>
              <a:ext uri="{FF2B5EF4-FFF2-40B4-BE49-F238E27FC236}">
                <a16:creationId xmlns:a16="http://schemas.microsoft.com/office/drawing/2014/main" id="{56E522F1-0B39-49C0-8C73-CDE8292B139A}"/>
              </a:ext>
            </a:extLst>
          </p:cNvPr>
          <p:cNvSpPr>
            <a:spLocks noGrp="1"/>
          </p:cNvSpPr>
          <p:nvPr>
            <p:ph idx="1"/>
          </p:nvPr>
        </p:nvSpPr>
        <p:spPr/>
        <p:txBody>
          <a:bodyPr/>
          <a:lstStyle/>
          <a:p>
            <a:r>
              <a:rPr kumimoji="1" lang="ja-JP" altLang="en-US" dirty="0"/>
              <a:t>背景では主観的ウェルビーイングに注目する理由</a:t>
            </a:r>
            <a:endParaRPr lang="en-US" altLang="ja-JP" dirty="0"/>
          </a:p>
          <a:p>
            <a:r>
              <a:rPr kumimoji="1" lang="ja-JP" altLang="en-US" dirty="0"/>
              <a:t>和歌山市を対象にする理由</a:t>
            </a:r>
            <a:endParaRPr kumimoji="1" lang="en-US" altLang="ja-JP" dirty="0"/>
          </a:p>
        </p:txBody>
      </p:sp>
    </p:spTree>
    <p:extLst>
      <p:ext uri="{BB962C8B-B14F-4D97-AF65-F5344CB8AC3E}">
        <p14:creationId xmlns:p14="http://schemas.microsoft.com/office/powerpoint/2010/main" val="1370934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35F73A-61E7-4863-9539-19EC54D368C8}"/>
              </a:ext>
            </a:extLst>
          </p:cNvPr>
          <p:cNvSpPr>
            <a:spLocks noGrp="1"/>
          </p:cNvSpPr>
          <p:nvPr>
            <p:ph type="title"/>
          </p:nvPr>
        </p:nvSpPr>
        <p:spPr/>
        <p:txBody>
          <a:bodyPr/>
          <a:lstStyle/>
          <a:p>
            <a:r>
              <a:rPr kumimoji="1" lang="en-US" altLang="ja-JP" dirty="0"/>
              <a:t>We</a:t>
            </a:r>
            <a:r>
              <a:rPr lang="en-US" altLang="ja-JP" dirty="0"/>
              <a:t>ll-being</a:t>
            </a:r>
            <a:r>
              <a:rPr lang="ja-JP" altLang="en-US" dirty="0"/>
              <a:t>とは？？</a:t>
            </a:r>
            <a:endParaRPr kumimoji="1" lang="ja-JP" altLang="en-US" dirty="0"/>
          </a:p>
        </p:txBody>
      </p:sp>
      <p:pic>
        <p:nvPicPr>
          <p:cNvPr id="3" name="Picture 2" descr="こころ・からだ・社会的つながりの3要素で構成されたWell-being図">
            <a:extLst>
              <a:ext uri="{FF2B5EF4-FFF2-40B4-BE49-F238E27FC236}">
                <a16:creationId xmlns:a16="http://schemas.microsoft.com/office/drawing/2014/main" id="{D26C4421-7B97-4F21-9C62-DA5DE62BE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7460" y="1477214"/>
            <a:ext cx="4582603" cy="4240618"/>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11EB92A1-691C-4E61-9746-378C523C6207}"/>
              </a:ext>
            </a:extLst>
          </p:cNvPr>
          <p:cNvSpPr/>
          <p:nvPr/>
        </p:nvSpPr>
        <p:spPr>
          <a:xfrm>
            <a:off x="838200" y="2134600"/>
            <a:ext cx="6159260" cy="1569660"/>
          </a:xfrm>
          <a:prstGeom prst="rect">
            <a:avLst/>
          </a:prstGeom>
        </p:spPr>
        <p:style>
          <a:lnRef idx="2">
            <a:schemeClr val="accent6"/>
          </a:lnRef>
          <a:fillRef idx="1">
            <a:schemeClr val="lt1"/>
          </a:fillRef>
          <a:effectRef idx="0">
            <a:schemeClr val="accent6"/>
          </a:effectRef>
          <a:fontRef idx="minor">
            <a:schemeClr val="dk1"/>
          </a:fontRef>
        </p:style>
        <p:txBody>
          <a:bodyPr rtlCol="0" anchor="ctr">
            <a:spAutoFit/>
          </a:bodyPr>
          <a:lstStyle/>
          <a:p>
            <a:pPr marL="0" indent="0">
              <a:buNone/>
            </a:pPr>
            <a:r>
              <a:rPr kumimoji="1" lang="en-US" altLang="ja-JP" sz="3200" dirty="0">
                <a:solidFill>
                  <a:srgbClr val="FF0000"/>
                </a:solidFill>
              </a:rPr>
              <a:t>Well-being </a:t>
            </a:r>
            <a:r>
              <a:rPr kumimoji="1" lang="ja-JP" altLang="en-US" sz="3200" dirty="0">
                <a:solidFill>
                  <a:srgbClr val="FF0000"/>
                </a:solidFill>
              </a:rPr>
              <a:t>とは、⾝体的に良好なだけでなく、⼼⾝ともに満たされた状態のこと</a:t>
            </a:r>
            <a:endParaRPr kumimoji="1" lang="en-US" altLang="ja-JP" sz="3200" dirty="0">
              <a:solidFill>
                <a:srgbClr val="FF0000"/>
              </a:solidFill>
            </a:endParaRPr>
          </a:p>
        </p:txBody>
      </p:sp>
      <p:sp>
        <p:nvSpPr>
          <p:cNvPr id="6" name="正方形/長方形 5">
            <a:extLst>
              <a:ext uri="{FF2B5EF4-FFF2-40B4-BE49-F238E27FC236}">
                <a16:creationId xmlns:a16="http://schemas.microsoft.com/office/drawing/2014/main" id="{5FE7ED34-1D73-4425-B7DF-6D7EB0B5873B}"/>
              </a:ext>
            </a:extLst>
          </p:cNvPr>
          <p:cNvSpPr/>
          <p:nvPr/>
        </p:nvSpPr>
        <p:spPr>
          <a:xfrm>
            <a:off x="424070" y="4393192"/>
            <a:ext cx="6573390" cy="1569660"/>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ja-JP" altLang="en-US" sz="2400" b="0" i="0" dirty="0">
                <a:solidFill>
                  <a:srgbClr val="333333"/>
                </a:solidFill>
                <a:effectLst/>
                <a:ea typeface="Noto Sans JP" panose="020B0200000000000000" pitchFamily="50" charset="-128"/>
              </a:rPr>
              <a:t>心身の調和や他者との良好な関係を含む広い意味での幸福感を意味しており、</a:t>
            </a:r>
            <a:br>
              <a:rPr lang="en-US" altLang="ja-JP" sz="2400" dirty="0">
                <a:solidFill>
                  <a:srgbClr val="333333"/>
                </a:solidFill>
                <a:ea typeface="Noto Sans JP" panose="020B0200000000000000" pitchFamily="50" charset="-128"/>
              </a:rPr>
            </a:br>
            <a:r>
              <a:rPr lang="ja-JP" altLang="en-US" sz="2400" b="0" i="0" dirty="0">
                <a:solidFill>
                  <a:srgbClr val="333333"/>
                </a:solidFill>
                <a:effectLst/>
                <a:ea typeface="Noto Sans JP" panose="020B0200000000000000" pitchFamily="50" charset="-128"/>
              </a:rPr>
              <a:t>「こころ」「からだ」「社会的なつながり」が健やかで満たされている状態</a:t>
            </a:r>
            <a:endParaRPr kumimoji="1" lang="ja-JP" altLang="en-US" sz="2400" dirty="0"/>
          </a:p>
        </p:txBody>
      </p:sp>
    </p:spTree>
    <p:extLst>
      <p:ext uri="{BB962C8B-B14F-4D97-AF65-F5344CB8AC3E}">
        <p14:creationId xmlns:p14="http://schemas.microsoft.com/office/powerpoint/2010/main" val="1151259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59BE5-2406-458D-B230-D50D536BDA55}"/>
              </a:ext>
            </a:extLst>
          </p:cNvPr>
          <p:cNvSpPr>
            <a:spLocks noGrp="1"/>
          </p:cNvSpPr>
          <p:nvPr>
            <p:ph type="title"/>
          </p:nvPr>
        </p:nvSpPr>
        <p:spPr/>
        <p:txBody>
          <a:bodyPr/>
          <a:lstStyle/>
          <a:p>
            <a:r>
              <a:rPr kumimoji="1" lang="ja-JP" altLang="en-US" dirty="0"/>
              <a:t>主観的</a:t>
            </a:r>
            <a:r>
              <a:rPr kumimoji="1" lang="en-US" altLang="ja-JP" dirty="0"/>
              <a:t>Well-being</a:t>
            </a:r>
            <a:r>
              <a:rPr lang="ja-JP" altLang="en-US" dirty="0"/>
              <a:t>と</a:t>
            </a:r>
            <a:r>
              <a:rPr kumimoji="1" lang="ja-JP" altLang="en-US" dirty="0"/>
              <a:t>客観的</a:t>
            </a:r>
            <a:r>
              <a:rPr kumimoji="1" lang="en-US" altLang="ja-JP" dirty="0"/>
              <a:t>Well-being</a:t>
            </a:r>
            <a:endParaRPr kumimoji="1" lang="ja-JP" altLang="en-US" dirty="0"/>
          </a:p>
        </p:txBody>
      </p:sp>
      <p:sp>
        <p:nvSpPr>
          <p:cNvPr id="3" name="コンテンツ プレースホルダー 2">
            <a:extLst>
              <a:ext uri="{FF2B5EF4-FFF2-40B4-BE49-F238E27FC236}">
                <a16:creationId xmlns:a16="http://schemas.microsoft.com/office/drawing/2014/main" id="{720D4D27-9889-485A-AE7C-59E33F462B6C}"/>
              </a:ext>
            </a:extLst>
          </p:cNvPr>
          <p:cNvSpPr>
            <a:spLocks noGrp="1"/>
          </p:cNvSpPr>
          <p:nvPr>
            <p:ph idx="1"/>
          </p:nvPr>
        </p:nvSpPr>
        <p:spPr/>
        <p:txBody>
          <a:bodyPr/>
          <a:lstStyle/>
          <a:p>
            <a:r>
              <a:rPr kumimoji="1" lang="en-US" altLang="ja-JP" dirty="0"/>
              <a:t>Well-being</a:t>
            </a:r>
            <a:r>
              <a:rPr kumimoji="1" lang="ja-JP" altLang="en-US" dirty="0"/>
              <a:t>には、</a:t>
            </a:r>
            <a:endParaRPr lang="en-US" altLang="ja-JP" dirty="0"/>
          </a:p>
          <a:p>
            <a:pPr lvl="1"/>
            <a:r>
              <a:rPr kumimoji="1" lang="ja-JP" altLang="en-US" dirty="0"/>
              <a:t>本人の体験や感覚にもとづく</a:t>
            </a:r>
            <a:r>
              <a:rPr kumimoji="1" lang="ja-JP" altLang="en-US" dirty="0">
                <a:solidFill>
                  <a:srgbClr val="FF0000"/>
                </a:solidFill>
              </a:rPr>
              <a:t>主観的</a:t>
            </a:r>
            <a:endParaRPr lang="en-US" altLang="ja-JP" dirty="0">
              <a:solidFill>
                <a:srgbClr val="FF0000"/>
              </a:solidFill>
            </a:endParaRPr>
          </a:p>
          <a:p>
            <a:pPr lvl="1"/>
            <a:r>
              <a:rPr kumimoji="1" lang="ja-JP" altLang="en-US" dirty="0"/>
              <a:t>寿命や賃金に関する統計などのような外部評価にもとづく</a:t>
            </a:r>
            <a:r>
              <a:rPr kumimoji="1" lang="ja-JP" altLang="en-US" dirty="0">
                <a:solidFill>
                  <a:srgbClr val="FF0000"/>
                </a:solidFill>
              </a:rPr>
              <a:t>客観的</a:t>
            </a:r>
            <a:endParaRPr kumimoji="1" lang="en-US" altLang="ja-JP" dirty="0">
              <a:solidFill>
                <a:srgbClr val="FF0000"/>
              </a:solidFill>
            </a:endParaRPr>
          </a:p>
          <a:p>
            <a:pPr lvl="2"/>
            <a:r>
              <a:rPr kumimoji="1" lang="ja-JP" altLang="en-US" dirty="0">
                <a:solidFill>
                  <a:srgbClr val="FF0000"/>
                </a:solidFill>
              </a:rPr>
              <a:t>主観的な</a:t>
            </a:r>
            <a:r>
              <a:rPr kumimoji="1" lang="en-US" altLang="ja-JP" dirty="0">
                <a:solidFill>
                  <a:srgbClr val="FF0000"/>
                </a:solidFill>
              </a:rPr>
              <a:t>Well-being</a:t>
            </a:r>
            <a:r>
              <a:rPr kumimoji="1" lang="ja-JP" altLang="en-US" dirty="0">
                <a:solidFill>
                  <a:srgbClr val="FF0000"/>
                </a:solidFill>
              </a:rPr>
              <a:t>が注目されている</a:t>
            </a:r>
          </a:p>
        </p:txBody>
      </p:sp>
      <p:pic>
        <p:nvPicPr>
          <p:cNvPr id="4098" name="Picture 2" descr="Well-beingの判定を示す図。分岐：客観的 Well-being（誰もが客観的に把握できる価値）／主観的 Well-being（個人が主観的に感じる価値）。">
            <a:extLst>
              <a:ext uri="{FF2B5EF4-FFF2-40B4-BE49-F238E27FC236}">
                <a16:creationId xmlns:a16="http://schemas.microsoft.com/office/drawing/2014/main" id="{858B8409-A7BB-4F0D-8CC4-E440D0078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3419" y="3655668"/>
            <a:ext cx="5382883" cy="3133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658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604E92-F7CB-4CDD-A9C1-732DA509BBB5}"/>
              </a:ext>
            </a:extLst>
          </p:cNvPr>
          <p:cNvSpPr>
            <a:spLocks noGrp="1"/>
          </p:cNvSpPr>
          <p:nvPr>
            <p:ph type="title"/>
          </p:nvPr>
        </p:nvSpPr>
        <p:spPr/>
        <p:txBody>
          <a:bodyPr/>
          <a:lstStyle/>
          <a:p>
            <a:r>
              <a:rPr kumimoji="1" lang="ja-JP" altLang="en-US" dirty="0"/>
              <a:t>日本の</a:t>
            </a:r>
            <a:r>
              <a:rPr kumimoji="1" lang="en-US" altLang="ja-JP" dirty="0"/>
              <a:t>Well-being</a:t>
            </a:r>
            <a:r>
              <a:rPr kumimoji="1" lang="ja-JP" altLang="en-US" dirty="0"/>
              <a:t>はどのような状況？</a:t>
            </a:r>
          </a:p>
        </p:txBody>
      </p:sp>
      <p:sp>
        <p:nvSpPr>
          <p:cNvPr id="4" name="四角形: 1 つの角を丸める 3">
            <a:extLst>
              <a:ext uri="{FF2B5EF4-FFF2-40B4-BE49-F238E27FC236}">
                <a16:creationId xmlns:a16="http://schemas.microsoft.com/office/drawing/2014/main" id="{F089967C-146D-4D0A-BED6-14D40637B1E1}"/>
              </a:ext>
            </a:extLst>
          </p:cNvPr>
          <p:cNvSpPr/>
          <p:nvPr/>
        </p:nvSpPr>
        <p:spPr>
          <a:xfrm>
            <a:off x="1219200" y="1691875"/>
            <a:ext cx="8706678" cy="954107"/>
          </a:xfrm>
          <a:prstGeom prst="round1Rect">
            <a:avLst/>
          </a:prstGeom>
        </p:spPr>
        <p:style>
          <a:lnRef idx="2">
            <a:schemeClr val="accent6"/>
          </a:lnRef>
          <a:fillRef idx="1">
            <a:schemeClr val="lt1"/>
          </a:fillRef>
          <a:effectRef idx="0">
            <a:schemeClr val="accent6"/>
          </a:effectRef>
          <a:fontRef idx="minor">
            <a:schemeClr val="dk1"/>
          </a:fontRef>
        </p:style>
        <p:txBody>
          <a:bodyPr rtlCol="0" anchor="ctr">
            <a:spAutoFit/>
          </a:bodyPr>
          <a:lstStyle/>
          <a:p>
            <a:pPr algn="l"/>
            <a:r>
              <a:rPr lang="en-US" altLang="ja-JP" sz="2800" i="0" dirty="0">
                <a:solidFill>
                  <a:srgbClr val="FF0000"/>
                </a:solidFill>
                <a:effectLst/>
                <a:ea typeface="Noto Sans JP" panose="020B0200000000000000" pitchFamily="50" charset="-128"/>
              </a:rPr>
              <a:t>GDP</a:t>
            </a:r>
            <a:r>
              <a:rPr lang="ja-JP" altLang="en-US" sz="2800" i="0" dirty="0">
                <a:solidFill>
                  <a:srgbClr val="FF0000"/>
                </a:solidFill>
                <a:effectLst/>
                <a:ea typeface="Noto Sans JP" panose="020B0200000000000000" pitchFamily="50" charset="-128"/>
              </a:rPr>
              <a:t>が成長しても、主観的</a:t>
            </a:r>
            <a:r>
              <a:rPr lang="en-US" altLang="ja-JP" sz="2800" i="0" dirty="0">
                <a:solidFill>
                  <a:srgbClr val="FF0000"/>
                </a:solidFill>
                <a:effectLst/>
                <a:ea typeface="Noto Sans JP" panose="020B0200000000000000" pitchFamily="50" charset="-128"/>
              </a:rPr>
              <a:t>Well-being </a:t>
            </a:r>
            <a:r>
              <a:rPr lang="ja-JP" altLang="en-US" sz="2800" i="0" dirty="0">
                <a:solidFill>
                  <a:srgbClr val="FF0000"/>
                </a:solidFill>
                <a:effectLst/>
                <a:ea typeface="Noto Sans JP" panose="020B0200000000000000" pitchFamily="50" charset="-128"/>
              </a:rPr>
              <a:t>は低いまま！</a:t>
            </a:r>
            <a:br>
              <a:rPr lang="en-US" altLang="ja-JP" sz="2800" i="0" dirty="0">
                <a:solidFill>
                  <a:srgbClr val="FF0000"/>
                </a:solidFill>
                <a:effectLst/>
                <a:ea typeface="Noto Sans JP" panose="020B0200000000000000" pitchFamily="50" charset="-128"/>
              </a:rPr>
            </a:br>
            <a:r>
              <a:rPr lang="ja-JP" altLang="en-US" sz="2800" i="0" dirty="0">
                <a:solidFill>
                  <a:srgbClr val="FF0000"/>
                </a:solidFill>
                <a:effectLst/>
                <a:ea typeface="Noto Sans JP" panose="020B0200000000000000" pitchFamily="50" charset="-128"/>
              </a:rPr>
              <a:t>広がるギャップが課題</a:t>
            </a:r>
          </a:p>
        </p:txBody>
      </p:sp>
      <p:pic>
        <p:nvPicPr>
          <p:cNvPr id="7170" name="Picture 2" descr="折れ線の上に塗りつぶしで示した面積が右肩上がりに増加し、縦矢印と『拡大するギャップ』の注記。凡例下に出典：ブルーノ・S・フライ／アロイス・スタッツァー著、佐和隆光（監訳）、沢崎冬日（日訳）『幸福の政治経済学—人々の幸せを促進するものは何か』ダイヤモンド社、2005年、p.12。">
            <a:extLst>
              <a:ext uri="{FF2B5EF4-FFF2-40B4-BE49-F238E27FC236}">
                <a16:creationId xmlns:a16="http://schemas.microsoft.com/office/drawing/2014/main" id="{D81F61F9-E775-4575-A79C-02B1D7B17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7164" y="2880859"/>
            <a:ext cx="3987454" cy="3844619"/>
          </a:xfrm>
          <a:prstGeom prst="rect">
            <a:avLst/>
          </a:prstGeom>
          <a:noFill/>
          <a:extLst>
            <a:ext uri="{909E8E84-426E-40DD-AFC4-6F175D3DCCD1}">
              <a14:hiddenFill xmlns:a14="http://schemas.microsoft.com/office/drawing/2010/main">
                <a:solidFill>
                  <a:srgbClr val="FFFFFF"/>
                </a:solidFill>
              </a14:hiddenFill>
            </a:ext>
          </a:extLst>
        </p:spPr>
      </p:pic>
      <p:sp>
        <p:nvSpPr>
          <p:cNvPr id="5" name="四角形: 1 つの角を丸める 4">
            <a:extLst>
              <a:ext uri="{FF2B5EF4-FFF2-40B4-BE49-F238E27FC236}">
                <a16:creationId xmlns:a16="http://schemas.microsoft.com/office/drawing/2014/main" id="{67FE81C9-9AE0-4DE9-9A19-0377C830C4A4}"/>
              </a:ext>
            </a:extLst>
          </p:cNvPr>
          <p:cNvSpPr/>
          <p:nvPr/>
        </p:nvSpPr>
        <p:spPr>
          <a:xfrm>
            <a:off x="240238" y="3601278"/>
            <a:ext cx="7536926" cy="1938992"/>
          </a:xfrm>
          <a:prstGeom prst="round1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spAutoFit/>
          </a:bodyPr>
          <a:lstStyle/>
          <a:p>
            <a:pPr algn="ctr"/>
            <a:r>
              <a:rPr kumimoji="1" lang="en-US" altLang="ja-JP" sz="2400" dirty="0"/>
              <a:t>2021</a:t>
            </a:r>
            <a:r>
              <a:rPr kumimoji="1" lang="ja-JP" altLang="en-US" sz="2400" dirty="0"/>
              <a:t>年に創設された</a:t>
            </a:r>
            <a:br>
              <a:rPr kumimoji="1" lang="en-US" altLang="ja-JP" sz="2400" dirty="0"/>
            </a:br>
            <a:r>
              <a:rPr kumimoji="1" lang="ja-JP" altLang="en-US" sz="2400" dirty="0"/>
              <a:t>日本版</a:t>
            </a:r>
            <a:r>
              <a:rPr kumimoji="1" lang="en-US" altLang="ja-JP" sz="2400" dirty="0"/>
              <a:t>Well-being Initiative</a:t>
            </a:r>
            <a:r>
              <a:rPr kumimoji="1" lang="ja-JP" altLang="en-US" sz="2400" dirty="0"/>
              <a:t>では、</a:t>
            </a:r>
            <a:br>
              <a:rPr kumimoji="1" lang="en-US" altLang="ja-JP" sz="2400" dirty="0"/>
            </a:br>
            <a:r>
              <a:rPr kumimoji="1" lang="ja-JP" altLang="en-US" sz="2400" dirty="0"/>
              <a:t>日本が経済的な発展（</a:t>
            </a:r>
            <a:r>
              <a:rPr kumimoji="1" lang="en-US" altLang="ja-JP" sz="2400" dirty="0"/>
              <a:t>GDP</a:t>
            </a:r>
            <a:r>
              <a:rPr kumimoji="1" lang="ja-JP" altLang="en-US" sz="2400" dirty="0"/>
              <a:t>の拡大）の一方で、</a:t>
            </a:r>
            <a:br>
              <a:rPr kumimoji="1" lang="en-US" altLang="ja-JP" sz="2400" dirty="0"/>
            </a:br>
            <a:r>
              <a:rPr kumimoji="1" lang="ja-JP" altLang="en-US" sz="2400" dirty="0"/>
              <a:t>生活満足度（主観的</a:t>
            </a:r>
            <a:r>
              <a:rPr kumimoji="1" lang="en-US" altLang="ja-JP" sz="2400" dirty="0"/>
              <a:t>Well-being</a:t>
            </a:r>
            <a:r>
              <a:rPr kumimoji="1" lang="ja-JP" altLang="en-US" sz="2400" dirty="0"/>
              <a:t>）が長年にわたり</a:t>
            </a:r>
            <a:br>
              <a:rPr lang="en-US" altLang="ja-JP" sz="2400" dirty="0"/>
            </a:br>
            <a:r>
              <a:rPr kumimoji="1" lang="ja-JP" altLang="en-US" sz="2400" dirty="0"/>
              <a:t>向上していない</a:t>
            </a:r>
          </a:p>
        </p:txBody>
      </p:sp>
      <p:sp>
        <p:nvSpPr>
          <p:cNvPr id="6" name="四角形: 1 つの角を丸める 5">
            <a:extLst>
              <a:ext uri="{FF2B5EF4-FFF2-40B4-BE49-F238E27FC236}">
                <a16:creationId xmlns:a16="http://schemas.microsoft.com/office/drawing/2014/main" id="{9E40AB88-FFC0-4202-85B1-EADD6D02A045}"/>
              </a:ext>
            </a:extLst>
          </p:cNvPr>
          <p:cNvSpPr/>
          <p:nvPr/>
        </p:nvSpPr>
        <p:spPr>
          <a:xfrm>
            <a:off x="5103018" y="5646525"/>
            <a:ext cx="2569060" cy="646331"/>
          </a:xfrm>
          <a:prstGeom prst="round1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lang="en-US" altLang="ja-JP" u="sng" dirty="0">
                <a:solidFill>
                  <a:schemeClr val="tx1"/>
                </a:solidFill>
                <a:hlinkClick r:id="rId3">
                  <a:extLst>
                    <a:ext uri="{A12FA001-AC4F-418D-AE19-62706E023703}">
                      <ahyp:hlinkClr xmlns:ahyp="http://schemas.microsoft.com/office/drawing/2018/hyperlinkcolor" val="tx"/>
                    </a:ext>
                  </a:extLst>
                </a:hlinkClick>
              </a:rPr>
              <a:t>Well-being</a:t>
            </a:r>
            <a:r>
              <a:rPr lang="ja-JP" altLang="en-US" u="sng" dirty="0">
                <a:solidFill>
                  <a:schemeClr val="tx1"/>
                </a:solidFill>
                <a:hlinkClick r:id="rId3">
                  <a:extLst>
                    <a:ext uri="{A12FA001-AC4F-418D-AE19-62706E023703}">
                      <ahyp:hlinkClr xmlns:ahyp="http://schemas.microsoft.com/office/drawing/2018/hyperlinkcolor" val="tx"/>
                    </a:ext>
                  </a:extLst>
                </a:hlinkClick>
              </a:rPr>
              <a:t>現状詳細</a:t>
            </a:r>
            <a:r>
              <a:rPr lang="en-US" altLang="ja-JP" dirty="0">
                <a:solidFill>
                  <a:srgbClr val="0563C1"/>
                </a:solidFill>
                <a:hlinkClick r:id="rId3">
                  <a:extLst>
                    <a:ext uri="{A12FA001-AC4F-418D-AE19-62706E023703}">
                      <ahyp:hlinkClr xmlns:ahyp="http://schemas.microsoft.com/office/drawing/2018/hyperlinkcolor" val="tx"/>
                    </a:ext>
                  </a:extLst>
                </a:hlinkClick>
              </a:rPr>
              <a:t>report08.pdf</a:t>
            </a:r>
            <a:endParaRPr kumimoji="1" lang="ja-JP" altLang="en-US" dirty="0"/>
          </a:p>
        </p:txBody>
      </p:sp>
    </p:spTree>
    <p:extLst>
      <p:ext uri="{BB962C8B-B14F-4D97-AF65-F5344CB8AC3E}">
        <p14:creationId xmlns:p14="http://schemas.microsoft.com/office/powerpoint/2010/main" val="3919743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5EAAAA-2774-489E-885B-C4DFD95D8A7F}"/>
              </a:ext>
            </a:extLst>
          </p:cNvPr>
          <p:cNvSpPr>
            <a:spLocks noGrp="1"/>
          </p:cNvSpPr>
          <p:nvPr>
            <p:ph type="title"/>
          </p:nvPr>
        </p:nvSpPr>
        <p:spPr/>
        <p:txBody>
          <a:bodyPr/>
          <a:lstStyle/>
          <a:p>
            <a:r>
              <a:rPr kumimoji="1" lang="ja-JP" altLang="en-US" dirty="0"/>
              <a:t>なぜ今、注目されているのか？</a:t>
            </a:r>
          </a:p>
        </p:txBody>
      </p:sp>
      <p:sp>
        <p:nvSpPr>
          <p:cNvPr id="3" name="コンテンツ プレースホルダー 2">
            <a:extLst>
              <a:ext uri="{FF2B5EF4-FFF2-40B4-BE49-F238E27FC236}">
                <a16:creationId xmlns:a16="http://schemas.microsoft.com/office/drawing/2014/main" id="{1F99CA9C-9CDF-493D-A553-0D7063262B91}"/>
              </a:ext>
            </a:extLst>
          </p:cNvPr>
          <p:cNvSpPr>
            <a:spLocks noGrp="1"/>
          </p:cNvSpPr>
          <p:nvPr>
            <p:ph idx="1"/>
          </p:nvPr>
        </p:nvSpPr>
        <p:spPr>
          <a:xfrm>
            <a:off x="838200" y="1690688"/>
            <a:ext cx="10515600" cy="4351338"/>
          </a:xfrm>
        </p:spPr>
        <p:txBody>
          <a:bodyPr>
            <a:normAutofit/>
          </a:bodyPr>
          <a:lstStyle/>
          <a:p>
            <a:pPr marL="0" indent="0">
              <a:buNone/>
            </a:pPr>
            <a:r>
              <a:rPr kumimoji="1" lang="ja-JP" altLang="en-US" dirty="0"/>
              <a:t>「経済的な豊かさ（</a:t>
            </a:r>
            <a:r>
              <a:rPr kumimoji="1" lang="en-US" altLang="ja-JP" dirty="0"/>
              <a:t>GDP</a:t>
            </a:r>
            <a:r>
              <a:rPr kumimoji="1" lang="ja-JP" altLang="en-US" dirty="0"/>
              <a:t>）」が幸福の指標だったが、</a:t>
            </a:r>
            <a:br>
              <a:rPr lang="en-US" altLang="ja-JP" dirty="0"/>
            </a:br>
            <a:r>
              <a:rPr kumimoji="1" lang="ja-JP" altLang="en-US" dirty="0"/>
              <a:t>現代ではそれだけでは測れない価値観が重視されている</a:t>
            </a:r>
            <a:endParaRPr kumimoji="1" lang="en-US" altLang="ja-JP" dirty="0"/>
          </a:p>
        </p:txBody>
      </p:sp>
      <p:pic>
        <p:nvPicPr>
          <p:cNvPr id="5122" name="Picture 2" descr="GDPとWell-beingの対比図。左：GDP＝生産量から経済的豊かさを測る指標。右：Well-being＝心身の豊かさを知るための指標。補足：GDPだけでは生活の豊かさや身体・心の幸福度まで測るのは難しい。">
            <a:extLst>
              <a:ext uri="{FF2B5EF4-FFF2-40B4-BE49-F238E27FC236}">
                <a16:creationId xmlns:a16="http://schemas.microsoft.com/office/drawing/2014/main" id="{AE5BE1D3-1F11-4207-BB6C-DB0591BD13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937" y="3016251"/>
            <a:ext cx="4674405" cy="2888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87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7ADA16-4377-4EFD-889B-735F01C523F2}"/>
              </a:ext>
            </a:extLst>
          </p:cNvPr>
          <p:cNvSpPr>
            <a:spLocks noGrp="1"/>
          </p:cNvSpPr>
          <p:nvPr>
            <p:ph type="title"/>
          </p:nvPr>
        </p:nvSpPr>
        <p:spPr/>
        <p:txBody>
          <a:bodyPr/>
          <a:lstStyle/>
          <a:p>
            <a:r>
              <a:rPr kumimoji="1" lang="ja-JP" altLang="en-US" dirty="0"/>
              <a:t>参考</a:t>
            </a:r>
          </a:p>
        </p:txBody>
      </p:sp>
      <p:sp>
        <p:nvSpPr>
          <p:cNvPr id="3" name="コンテンツ プレースホルダー 2">
            <a:extLst>
              <a:ext uri="{FF2B5EF4-FFF2-40B4-BE49-F238E27FC236}">
                <a16:creationId xmlns:a16="http://schemas.microsoft.com/office/drawing/2014/main" id="{8DDCFCE2-FB3F-45A0-8819-B1DBC306B832}"/>
              </a:ext>
            </a:extLst>
          </p:cNvPr>
          <p:cNvSpPr>
            <a:spLocks noGrp="1"/>
          </p:cNvSpPr>
          <p:nvPr>
            <p:ph idx="1"/>
          </p:nvPr>
        </p:nvSpPr>
        <p:spPr/>
        <p:txBody>
          <a:bodyPr/>
          <a:lstStyle/>
          <a:p>
            <a:r>
              <a:rPr lang="ja-JP" altLang="en-US" dirty="0">
                <a:hlinkClick r:id="rId2"/>
              </a:rPr>
              <a:t>そもそも</a:t>
            </a:r>
            <a:r>
              <a:rPr lang="en-US" altLang="ja-JP" dirty="0">
                <a:hlinkClick r:id="rId2"/>
              </a:rPr>
              <a:t>Well-being(</a:t>
            </a:r>
            <a:r>
              <a:rPr lang="ja-JP" altLang="en-US" dirty="0">
                <a:hlinkClick r:id="rId2"/>
              </a:rPr>
              <a:t>ウェルビーイング</a:t>
            </a:r>
            <a:r>
              <a:rPr lang="en-US" altLang="ja-JP" dirty="0">
                <a:hlinkClick r:id="rId2"/>
              </a:rPr>
              <a:t>)</a:t>
            </a:r>
            <a:r>
              <a:rPr lang="ja-JP" altLang="en-US" dirty="0">
                <a:hlinkClick r:id="rId2"/>
              </a:rPr>
              <a:t>ってなんだろう？ </a:t>
            </a:r>
            <a:r>
              <a:rPr lang="en-US" altLang="ja-JP" dirty="0">
                <a:hlinkClick r:id="rId2"/>
              </a:rPr>
              <a:t>| PERSOL</a:t>
            </a:r>
            <a:r>
              <a:rPr lang="ja-JP" altLang="en-US" dirty="0">
                <a:hlinkClick r:id="rId2"/>
              </a:rPr>
              <a:t>（パーソル）グループ</a:t>
            </a:r>
            <a:endParaRPr lang="en-US" altLang="ja-JP" dirty="0"/>
          </a:p>
          <a:p>
            <a:r>
              <a:rPr lang="en-US" altLang="ja-JP" dirty="0">
                <a:hlinkClick r:id="rId3"/>
              </a:rPr>
              <a:t>report08.pdf</a:t>
            </a:r>
            <a:endParaRPr lang="en-US" altLang="ja-JP" dirty="0"/>
          </a:p>
        </p:txBody>
      </p:sp>
    </p:spTree>
    <p:extLst>
      <p:ext uri="{BB962C8B-B14F-4D97-AF65-F5344CB8AC3E}">
        <p14:creationId xmlns:p14="http://schemas.microsoft.com/office/powerpoint/2010/main" val="3615575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7BB477-80CF-4969-B359-EA0931490835}"/>
              </a:ext>
            </a:extLst>
          </p:cNvPr>
          <p:cNvSpPr>
            <a:spLocks noGrp="1"/>
          </p:cNvSpPr>
          <p:nvPr>
            <p:ph type="title"/>
          </p:nvPr>
        </p:nvSpPr>
        <p:spPr/>
        <p:txBody>
          <a:bodyPr/>
          <a:lstStyle/>
          <a:p>
            <a:r>
              <a:rPr kumimoji="1" lang="ja-JP" altLang="en-US" dirty="0"/>
              <a:t>データ説明</a:t>
            </a:r>
          </a:p>
        </p:txBody>
      </p:sp>
      <p:sp>
        <p:nvSpPr>
          <p:cNvPr id="3" name="コンテンツ プレースホルダー 2">
            <a:extLst>
              <a:ext uri="{FF2B5EF4-FFF2-40B4-BE49-F238E27FC236}">
                <a16:creationId xmlns:a16="http://schemas.microsoft.com/office/drawing/2014/main" id="{700B08BD-C998-431C-9A87-0A2C66124535}"/>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4195796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8893F2D-E29E-4BF4-8420-A6FDD601FEBF}"/>
              </a:ext>
            </a:extLst>
          </p:cNvPr>
          <p:cNvSpPr>
            <a:spLocks noGrp="1"/>
          </p:cNvSpPr>
          <p:nvPr>
            <p:ph type="title"/>
          </p:nvPr>
        </p:nvSpPr>
        <p:spPr/>
        <p:txBody>
          <a:bodyPr/>
          <a:lstStyle/>
          <a:p>
            <a:r>
              <a:rPr lang="ja-JP" altLang="en-US" dirty="0"/>
              <a:t>ダッシュボード概要</a:t>
            </a:r>
          </a:p>
        </p:txBody>
      </p:sp>
      <p:pic>
        <p:nvPicPr>
          <p:cNvPr id="5" name="図 4">
            <a:extLst>
              <a:ext uri="{FF2B5EF4-FFF2-40B4-BE49-F238E27FC236}">
                <a16:creationId xmlns:a16="http://schemas.microsoft.com/office/drawing/2014/main" id="{ADAD91AA-6281-4A1A-8F64-19B65A3D9AF2}"/>
              </a:ext>
            </a:extLst>
          </p:cNvPr>
          <p:cNvPicPr>
            <a:picLocks noChangeAspect="1"/>
          </p:cNvPicPr>
          <p:nvPr/>
        </p:nvPicPr>
        <p:blipFill>
          <a:blip r:embed="rId2"/>
          <a:stretch>
            <a:fillRect/>
          </a:stretch>
        </p:blipFill>
        <p:spPr>
          <a:xfrm>
            <a:off x="-5098" y="1690688"/>
            <a:ext cx="6647515" cy="4478413"/>
          </a:xfrm>
          <a:prstGeom prst="rect">
            <a:avLst/>
          </a:prstGeom>
        </p:spPr>
      </p:pic>
      <p:pic>
        <p:nvPicPr>
          <p:cNvPr id="8" name="図 7">
            <a:extLst>
              <a:ext uri="{FF2B5EF4-FFF2-40B4-BE49-F238E27FC236}">
                <a16:creationId xmlns:a16="http://schemas.microsoft.com/office/drawing/2014/main" id="{6C1505D7-B412-4F65-A9C7-9D1A3C515AB0}"/>
              </a:ext>
            </a:extLst>
          </p:cNvPr>
          <p:cNvPicPr>
            <a:picLocks noChangeAspect="1"/>
          </p:cNvPicPr>
          <p:nvPr/>
        </p:nvPicPr>
        <p:blipFill rotWithShape="1">
          <a:blip r:embed="rId3"/>
          <a:srcRect r="49617"/>
          <a:stretch/>
        </p:blipFill>
        <p:spPr>
          <a:xfrm>
            <a:off x="7195456" y="1390023"/>
            <a:ext cx="3882299" cy="5079741"/>
          </a:xfrm>
          <a:prstGeom prst="rect">
            <a:avLst/>
          </a:prstGeom>
        </p:spPr>
      </p:pic>
    </p:spTree>
    <p:extLst>
      <p:ext uri="{BB962C8B-B14F-4D97-AF65-F5344CB8AC3E}">
        <p14:creationId xmlns:p14="http://schemas.microsoft.com/office/powerpoint/2010/main" val="1339911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474BAF-E352-4EE6-BEAA-378B0B191BB2}"/>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60991A3E-ACDB-4DCE-B4F2-E5071D5D0E9A}"/>
              </a:ext>
            </a:extLst>
          </p:cNvPr>
          <p:cNvSpPr>
            <a:spLocks noGrp="1"/>
          </p:cNvSpPr>
          <p:nvPr>
            <p:ph idx="1"/>
          </p:nvPr>
        </p:nvSpPr>
        <p:spPr/>
        <p:txBody>
          <a:bodyPr/>
          <a:lstStyle/>
          <a:p>
            <a:endParaRPr kumimoji="1" lang="ja-JP" altLang="en-US"/>
          </a:p>
        </p:txBody>
      </p:sp>
      <p:pic>
        <p:nvPicPr>
          <p:cNvPr id="2050" name="Picture 2" descr="スクリーンショット 2026-09-07 160250">
            <a:extLst>
              <a:ext uri="{FF2B5EF4-FFF2-40B4-BE49-F238E27FC236}">
                <a16:creationId xmlns:a16="http://schemas.microsoft.com/office/drawing/2014/main" id="{1E31DEE3-B5EC-4D86-AC15-FBAE82EB54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8898"/>
            <a:ext cx="12183711" cy="6675220"/>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B34B3B65-7E83-4618-A6D6-67D5FB6C8816}"/>
              </a:ext>
            </a:extLst>
          </p:cNvPr>
          <p:cNvSpPr/>
          <p:nvPr/>
        </p:nvSpPr>
        <p:spPr>
          <a:xfrm>
            <a:off x="2766680" y="2015908"/>
            <a:ext cx="2672862" cy="474785"/>
          </a:xfrm>
          <a:prstGeom prst="rect">
            <a:avLst/>
          </a:prstGeom>
          <a:no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5" name="矢印: 右 4">
            <a:extLst>
              <a:ext uri="{FF2B5EF4-FFF2-40B4-BE49-F238E27FC236}">
                <a16:creationId xmlns:a16="http://schemas.microsoft.com/office/drawing/2014/main" id="{12FFDD80-D3B0-4A18-B3F3-3B9574163D83}"/>
              </a:ext>
            </a:extLst>
          </p:cNvPr>
          <p:cNvSpPr/>
          <p:nvPr/>
        </p:nvSpPr>
        <p:spPr>
          <a:xfrm rot="10800000">
            <a:off x="5548194" y="1973994"/>
            <a:ext cx="56270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668E2B4-4702-424E-9086-8F2E9A51CEC2}"/>
              </a:ext>
            </a:extLst>
          </p:cNvPr>
          <p:cNvSpPr/>
          <p:nvPr/>
        </p:nvSpPr>
        <p:spPr>
          <a:xfrm>
            <a:off x="6165766" y="2002461"/>
            <a:ext cx="2937893" cy="461665"/>
          </a:xfrm>
          <a:prstGeom prst="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wrap="square" rtlCol="0" anchor="ctr">
            <a:spAutoFit/>
          </a:bodyPr>
          <a:lstStyle/>
          <a:p>
            <a:r>
              <a:rPr kumimoji="1" lang="ja-JP" altLang="en-US" sz="2400" dirty="0">
                <a:solidFill>
                  <a:srgbClr val="FF0000"/>
                </a:solidFill>
              </a:rPr>
              <a:t>幸福度（目的変数）</a:t>
            </a:r>
          </a:p>
        </p:txBody>
      </p:sp>
    </p:spTree>
    <p:extLst>
      <p:ext uri="{BB962C8B-B14F-4D97-AF65-F5344CB8AC3E}">
        <p14:creationId xmlns:p14="http://schemas.microsoft.com/office/powerpoint/2010/main" val="4268507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スクリーンショット 2026-09-07 155724">
            <a:extLst>
              <a:ext uri="{FF2B5EF4-FFF2-40B4-BE49-F238E27FC236}">
                <a16:creationId xmlns:a16="http://schemas.microsoft.com/office/drawing/2014/main" id="{AC412DD6-F55A-4D9E-8A0D-94F197044040}"/>
              </a:ext>
            </a:extLst>
          </p:cNvPr>
          <p:cNvSpPr>
            <a:spLocks noChangeAspect="1" noChangeArrowheads="1"/>
          </p:cNvSpPr>
          <p:nvPr/>
        </p:nvSpPr>
        <p:spPr bwMode="auto">
          <a:xfrm>
            <a:off x="77788" y="0"/>
            <a:ext cx="12036425"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1" name="図 10">
            <a:extLst>
              <a:ext uri="{FF2B5EF4-FFF2-40B4-BE49-F238E27FC236}">
                <a16:creationId xmlns:a16="http://schemas.microsoft.com/office/drawing/2014/main" id="{FD987DB7-2B7C-47B3-A064-96E977D5FD06}"/>
              </a:ext>
            </a:extLst>
          </p:cNvPr>
          <p:cNvPicPr>
            <a:picLocks noChangeAspect="1"/>
          </p:cNvPicPr>
          <p:nvPr/>
        </p:nvPicPr>
        <p:blipFill rotWithShape="1">
          <a:blip r:embed="rId2">
            <a:extLst>
              <a:ext uri="{28A0092B-C50C-407E-A947-70E740481C1C}">
                <a14:useLocalDpi xmlns:a14="http://schemas.microsoft.com/office/drawing/2010/main" val="0"/>
              </a:ext>
            </a:extLst>
          </a:blip>
          <a:srcRect l="7" r="7"/>
          <a:stretch/>
        </p:blipFill>
        <p:spPr>
          <a:xfrm>
            <a:off x="1327789" y="1668646"/>
            <a:ext cx="9012999" cy="5083598"/>
          </a:xfrm>
          <a:prstGeom prst="rect">
            <a:avLst/>
          </a:prstGeom>
        </p:spPr>
      </p:pic>
      <p:sp>
        <p:nvSpPr>
          <p:cNvPr id="14" name="タイトル 13">
            <a:extLst>
              <a:ext uri="{FF2B5EF4-FFF2-40B4-BE49-F238E27FC236}">
                <a16:creationId xmlns:a16="http://schemas.microsoft.com/office/drawing/2014/main" id="{74A61CA1-05B7-46F8-8633-A0E6E90A6A87}"/>
              </a:ext>
            </a:extLst>
          </p:cNvPr>
          <p:cNvSpPr>
            <a:spLocks noGrp="1"/>
          </p:cNvSpPr>
          <p:nvPr>
            <p:ph type="title"/>
          </p:nvPr>
        </p:nvSpPr>
        <p:spPr/>
        <p:txBody>
          <a:bodyPr/>
          <a:lstStyle/>
          <a:p>
            <a:r>
              <a:rPr lang="ja-JP" altLang="en-US" dirty="0"/>
              <a:t>個別</a:t>
            </a:r>
            <a:r>
              <a:rPr lang="en-US" altLang="ja-JP" dirty="0"/>
              <a:t>KPI</a:t>
            </a:r>
            <a:r>
              <a:rPr lang="ja-JP" altLang="en-US" dirty="0"/>
              <a:t>一覧（１）</a:t>
            </a:r>
          </a:p>
        </p:txBody>
      </p:sp>
    </p:spTree>
    <p:extLst>
      <p:ext uri="{BB962C8B-B14F-4D97-AF65-F5344CB8AC3E}">
        <p14:creationId xmlns:p14="http://schemas.microsoft.com/office/powerpoint/2010/main" val="3966676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スクリーンショット 2026-09-07 155724">
            <a:extLst>
              <a:ext uri="{FF2B5EF4-FFF2-40B4-BE49-F238E27FC236}">
                <a16:creationId xmlns:a16="http://schemas.microsoft.com/office/drawing/2014/main" id="{AC412DD6-F55A-4D9E-8A0D-94F197044040}"/>
              </a:ext>
            </a:extLst>
          </p:cNvPr>
          <p:cNvSpPr>
            <a:spLocks noChangeAspect="1" noChangeArrowheads="1"/>
          </p:cNvSpPr>
          <p:nvPr/>
        </p:nvSpPr>
        <p:spPr bwMode="auto">
          <a:xfrm>
            <a:off x="77788" y="0"/>
            <a:ext cx="12036425"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1" name="図 10">
            <a:extLst>
              <a:ext uri="{FF2B5EF4-FFF2-40B4-BE49-F238E27FC236}">
                <a16:creationId xmlns:a16="http://schemas.microsoft.com/office/drawing/2014/main" id="{FD987DB7-2B7C-47B3-A064-96E977D5FD06}"/>
              </a:ext>
            </a:extLst>
          </p:cNvPr>
          <p:cNvPicPr>
            <a:picLocks noChangeAspect="1"/>
          </p:cNvPicPr>
          <p:nvPr/>
        </p:nvPicPr>
        <p:blipFill rotWithShape="1">
          <a:blip r:embed="rId2">
            <a:extLst>
              <a:ext uri="{28A0092B-C50C-407E-A947-70E740481C1C}">
                <a14:useLocalDpi xmlns:a14="http://schemas.microsoft.com/office/drawing/2010/main" val="0"/>
              </a:ext>
            </a:extLst>
          </a:blip>
          <a:srcRect t="1004"/>
          <a:stretch/>
        </p:blipFill>
        <p:spPr>
          <a:xfrm>
            <a:off x="1327789" y="1668646"/>
            <a:ext cx="9012999" cy="5083598"/>
          </a:xfrm>
          <a:prstGeom prst="rect">
            <a:avLst/>
          </a:prstGeom>
        </p:spPr>
      </p:pic>
      <p:sp>
        <p:nvSpPr>
          <p:cNvPr id="14" name="タイトル 13">
            <a:extLst>
              <a:ext uri="{FF2B5EF4-FFF2-40B4-BE49-F238E27FC236}">
                <a16:creationId xmlns:a16="http://schemas.microsoft.com/office/drawing/2014/main" id="{74A61CA1-05B7-46F8-8633-A0E6E90A6A87}"/>
              </a:ext>
            </a:extLst>
          </p:cNvPr>
          <p:cNvSpPr>
            <a:spLocks noGrp="1"/>
          </p:cNvSpPr>
          <p:nvPr>
            <p:ph type="title"/>
          </p:nvPr>
        </p:nvSpPr>
        <p:spPr/>
        <p:txBody>
          <a:bodyPr/>
          <a:lstStyle/>
          <a:p>
            <a:r>
              <a:rPr lang="ja-JP" altLang="en-US" dirty="0"/>
              <a:t>個別</a:t>
            </a:r>
            <a:r>
              <a:rPr lang="en-US" altLang="ja-JP" dirty="0"/>
              <a:t>KPI</a:t>
            </a:r>
            <a:r>
              <a:rPr lang="ja-JP" altLang="en-US" dirty="0"/>
              <a:t>一覧（２）</a:t>
            </a:r>
          </a:p>
        </p:txBody>
      </p:sp>
    </p:spTree>
    <p:extLst>
      <p:ext uri="{BB962C8B-B14F-4D97-AF65-F5344CB8AC3E}">
        <p14:creationId xmlns:p14="http://schemas.microsoft.com/office/powerpoint/2010/main" val="3912142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9E92FB-4595-4DF6-B52D-103438C21F01}"/>
              </a:ext>
            </a:extLst>
          </p:cNvPr>
          <p:cNvSpPr/>
          <p:nvPr/>
        </p:nvSpPr>
        <p:spPr>
          <a:xfrm>
            <a:off x="5251939" y="5939815"/>
            <a:ext cx="221566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https://mapfan.com/pref/30</a:t>
            </a:r>
            <a:endParaRPr kumimoji="1" lang="ja-JP" altLang="en-US"/>
          </a:p>
        </p:txBody>
      </p:sp>
      <p:sp>
        <p:nvSpPr>
          <p:cNvPr id="13" name="タイトル 12">
            <a:extLst>
              <a:ext uri="{FF2B5EF4-FFF2-40B4-BE49-F238E27FC236}">
                <a16:creationId xmlns:a16="http://schemas.microsoft.com/office/drawing/2014/main" id="{40F86124-D33B-45FD-B5F3-2058104C89CA}"/>
              </a:ext>
            </a:extLst>
          </p:cNvPr>
          <p:cNvSpPr>
            <a:spLocks noGrp="1"/>
          </p:cNvSpPr>
          <p:nvPr>
            <p:ph type="title"/>
          </p:nvPr>
        </p:nvSpPr>
        <p:spPr/>
        <p:txBody>
          <a:bodyPr/>
          <a:lstStyle/>
          <a:p>
            <a:endParaRPr lang="ja-JP" altLang="en-US"/>
          </a:p>
        </p:txBody>
      </p:sp>
      <p:grpSp>
        <p:nvGrpSpPr>
          <p:cNvPr id="24" name="グループ化 23">
            <a:extLst>
              <a:ext uri="{FF2B5EF4-FFF2-40B4-BE49-F238E27FC236}">
                <a16:creationId xmlns:a16="http://schemas.microsoft.com/office/drawing/2014/main" id="{1F87AEF7-E260-4457-BD89-3900CE596BD2}"/>
              </a:ext>
            </a:extLst>
          </p:cNvPr>
          <p:cNvGrpSpPr/>
          <p:nvPr/>
        </p:nvGrpSpPr>
        <p:grpSpPr>
          <a:xfrm>
            <a:off x="6620566" y="1919520"/>
            <a:ext cx="4580834" cy="4848049"/>
            <a:chOff x="6378519" y="1822831"/>
            <a:chExt cx="4580834" cy="4848049"/>
          </a:xfrm>
        </p:grpSpPr>
        <p:pic>
          <p:nvPicPr>
            <p:cNvPr id="4098" name="Picture 2">
              <a:extLst>
                <a:ext uri="{FF2B5EF4-FFF2-40B4-BE49-F238E27FC236}">
                  <a16:creationId xmlns:a16="http://schemas.microsoft.com/office/drawing/2014/main" id="{56B41A12-1FEE-4BA7-A7F2-2DCEA56C3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8519" y="1822831"/>
              <a:ext cx="4580834" cy="4848049"/>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グループ化 16">
              <a:extLst>
                <a:ext uri="{FF2B5EF4-FFF2-40B4-BE49-F238E27FC236}">
                  <a16:creationId xmlns:a16="http://schemas.microsoft.com/office/drawing/2014/main" id="{220FB805-084E-4AC6-A75F-6049F2B4FA63}"/>
                </a:ext>
              </a:extLst>
            </p:cNvPr>
            <p:cNvGrpSpPr/>
            <p:nvPr/>
          </p:nvGrpSpPr>
          <p:grpSpPr>
            <a:xfrm>
              <a:off x="7113494" y="2020509"/>
              <a:ext cx="2245871" cy="2795705"/>
              <a:chOff x="7113494" y="2020509"/>
              <a:chExt cx="2245871" cy="2795705"/>
            </a:xfrm>
          </p:grpSpPr>
          <p:sp>
            <p:nvSpPr>
              <p:cNvPr id="16" name="楕円 15">
                <a:extLst>
                  <a:ext uri="{FF2B5EF4-FFF2-40B4-BE49-F238E27FC236}">
                    <a16:creationId xmlns:a16="http://schemas.microsoft.com/office/drawing/2014/main" id="{466F99F8-A4AB-4842-95DB-D282C4773265}"/>
                  </a:ext>
                </a:extLst>
              </p:cNvPr>
              <p:cNvSpPr/>
              <p:nvPr/>
            </p:nvSpPr>
            <p:spPr>
              <a:xfrm>
                <a:off x="7113494" y="2489383"/>
                <a:ext cx="470860" cy="2963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096A9DB2-B629-426F-9F81-3C4C31F516A4}"/>
                  </a:ext>
                </a:extLst>
              </p:cNvPr>
              <p:cNvSpPr/>
              <p:nvPr/>
            </p:nvSpPr>
            <p:spPr>
              <a:xfrm>
                <a:off x="7225553" y="2958999"/>
                <a:ext cx="470860" cy="2963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C2DC70AA-7F87-44E6-AF14-FE6042E872FA}"/>
                  </a:ext>
                </a:extLst>
              </p:cNvPr>
              <p:cNvSpPr/>
              <p:nvPr/>
            </p:nvSpPr>
            <p:spPr>
              <a:xfrm>
                <a:off x="8888505" y="2020509"/>
                <a:ext cx="470860" cy="2963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5D01A124-98A4-4E86-8B1E-5CA7AE2F62DB}"/>
                  </a:ext>
                </a:extLst>
              </p:cNvPr>
              <p:cNvSpPr/>
              <p:nvPr/>
            </p:nvSpPr>
            <p:spPr>
              <a:xfrm>
                <a:off x="7563116" y="2263046"/>
                <a:ext cx="470860" cy="2963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A5FED6A2-C31B-4621-BD63-2D9ECF2D1B1C}"/>
                  </a:ext>
                </a:extLst>
              </p:cNvPr>
              <p:cNvSpPr/>
              <p:nvPr/>
            </p:nvSpPr>
            <p:spPr>
              <a:xfrm>
                <a:off x="7958524" y="2386629"/>
                <a:ext cx="470860" cy="2963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DF4BE01D-F4FA-45FC-85EF-89DA5EAB36D7}"/>
                  </a:ext>
                </a:extLst>
              </p:cNvPr>
              <p:cNvSpPr/>
              <p:nvPr/>
            </p:nvSpPr>
            <p:spPr>
              <a:xfrm>
                <a:off x="8807823" y="4519889"/>
                <a:ext cx="470860" cy="2963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221231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グラフ, レーダー チャート&#10;&#10;自動的に生成された説明">
            <a:extLst>
              <a:ext uri="{FF2B5EF4-FFF2-40B4-BE49-F238E27FC236}">
                <a16:creationId xmlns:a16="http://schemas.microsoft.com/office/drawing/2014/main" id="{CBAE7B38-B19F-A56A-2DB5-9BE89FFF10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28223" y="1437687"/>
            <a:ext cx="6304669" cy="4244250"/>
          </a:xfrm>
          <a:prstGeom prst="rect">
            <a:avLst/>
          </a:prstGeom>
        </p:spPr>
      </p:pic>
      <p:pic>
        <p:nvPicPr>
          <p:cNvPr id="6" name="図 5" descr="グラフ, レーダー チャート&#10;&#10;自動的に生成された説明">
            <a:extLst>
              <a:ext uri="{FF2B5EF4-FFF2-40B4-BE49-F238E27FC236}">
                <a16:creationId xmlns:a16="http://schemas.microsoft.com/office/drawing/2014/main" id="{DF390556-0379-0C19-47DA-BF93E1EB1702}"/>
              </a:ext>
            </a:extLst>
          </p:cNvPr>
          <p:cNvPicPr>
            <a:picLocks noChangeAspect="1"/>
          </p:cNvPicPr>
          <p:nvPr/>
        </p:nvPicPr>
        <p:blipFill rotWithShape="1">
          <a:blip r:embed="rId4">
            <a:extLst>
              <a:ext uri="{28A0092B-C50C-407E-A947-70E740481C1C}">
                <a14:useLocalDpi xmlns:a14="http://schemas.microsoft.com/office/drawing/2010/main" val="0"/>
              </a:ext>
            </a:extLst>
          </a:blip>
          <a:srcRect l="2487" r="6679"/>
          <a:stretch/>
        </p:blipFill>
        <p:spPr>
          <a:xfrm>
            <a:off x="5608321" y="7062398"/>
            <a:ext cx="6277622" cy="4654398"/>
          </a:xfrm>
          <a:prstGeom prst="rect">
            <a:avLst/>
          </a:prstGeom>
        </p:spPr>
      </p:pic>
      <p:sp>
        <p:nvSpPr>
          <p:cNvPr id="2" name="タイトル 1">
            <a:extLst>
              <a:ext uri="{FF2B5EF4-FFF2-40B4-BE49-F238E27FC236}">
                <a16:creationId xmlns:a16="http://schemas.microsoft.com/office/drawing/2014/main" id="{EC06227A-2245-403B-B129-7348C79F3D21}"/>
              </a:ext>
            </a:extLst>
          </p:cNvPr>
          <p:cNvSpPr>
            <a:spLocks noGrp="1"/>
          </p:cNvSpPr>
          <p:nvPr>
            <p:ph type="title"/>
          </p:nvPr>
        </p:nvSpPr>
        <p:spPr/>
        <p:txBody>
          <a:bodyPr>
            <a:noAutofit/>
          </a:bodyPr>
          <a:lstStyle/>
          <a:p>
            <a:r>
              <a:rPr kumimoji="1" lang="ja-JP" altLang="en-US" sz="2400" dirty="0">
                <a:latin typeface="Meiryo UI" panose="020B0604030504040204" pitchFamily="50" charset="-128"/>
                <a:ea typeface="Meiryo UI" panose="020B0604030504040204" pitchFamily="50" charset="-128"/>
              </a:rPr>
              <a:t>●●市の概要</a:t>
            </a:r>
          </a:p>
        </p:txBody>
      </p:sp>
      <p:graphicFrame>
        <p:nvGraphicFramePr>
          <p:cNvPr id="17" name="表 16">
            <a:extLst>
              <a:ext uri="{FF2B5EF4-FFF2-40B4-BE49-F238E27FC236}">
                <a16:creationId xmlns:a16="http://schemas.microsoft.com/office/drawing/2014/main" id="{B7FF632D-B232-4E5C-8A5F-5450D2AB3008}"/>
              </a:ext>
            </a:extLst>
          </p:cNvPr>
          <p:cNvGraphicFramePr>
            <a:graphicFrameLocks noGrp="1"/>
          </p:cNvGraphicFramePr>
          <p:nvPr/>
        </p:nvGraphicFramePr>
        <p:xfrm>
          <a:off x="245694" y="1295049"/>
          <a:ext cx="5095232" cy="1871128"/>
        </p:xfrm>
        <a:graphic>
          <a:graphicData uri="http://schemas.openxmlformats.org/drawingml/2006/table">
            <a:tbl>
              <a:tblPr firstRow="1" bandRow="1">
                <a:tableStyleId>{5940675A-B579-460E-94D1-54222C63F5DA}</a:tableStyleId>
              </a:tblPr>
              <a:tblGrid>
                <a:gridCol w="1214277">
                  <a:extLst>
                    <a:ext uri="{9D8B030D-6E8A-4147-A177-3AD203B41FA5}">
                      <a16:colId xmlns:a16="http://schemas.microsoft.com/office/drawing/2014/main" val="471369414"/>
                    </a:ext>
                  </a:extLst>
                </a:gridCol>
                <a:gridCol w="1455145">
                  <a:extLst>
                    <a:ext uri="{9D8B030D-6E8A-4147-A177-3AD203B41FA5}">
                      <a16:colId xmlns:a16="http://schemas.microsoft.com/office/drawing/2014/main" val="349007620"/>
                    </a:ext>
                  </a:extLst>
                </a:gridCol>
                <a:gridCol w="1212905">
                  <a:extLst>
                    <a:ext uri="{9D8B030D-6E8A-4147-A177-3AD203B41FA5}">
                      <a16:colId xmlns:a16="http://schemas.microsoft.com/office/drawing/2014/main" val="1119133022"/>
                    </a:ext>
                  </a:extLst>
                </a:gridCol>
                <a:gridCol w="1212905">
                  <a:extLst>
                    <a:ext uri="{9D8B030D-6E8A-4147-A177-3AD203B41FA5}">
                      <a16:colId xmlns:a16="http://schemas.microsoft.com/office/drawing/2014/main" val="1550624976"/>
                    </a:ext>
                  </a:extLst>
                </a:gridCol>
              </a:tblGrid>
              <a:tr h="190120">
                <a:tc>
                  <a:txBody>
                    <a:bodyPr/>
                    <a:lstStyle/>
                    <a:p>
                      <a:pPr>
                        <a:lnSpc>
                          <a:spcPts val="1400"/>
                        </a:lnSpc>
                      </a:pPr>
                      <a:r>
                        <a:rPr kumimoji="1" lang="ja-JP" altLang="en-US" sz="1200">
                          <a:latin typeface="Meiryo UI" panose="020B0604030504040204" pitchFamily="50" charset="-128"/>
                          <a:ea typeface="Meiryo UI" panose="020B0604030504040204" pitchFamily="50" charset="-128"/>
                        </a:rPr>
                        <a:t>人口</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ts val="1400"/>
                        </a:lnSpc>
                      </a:pPr>
                      <a:r>
                        <a:rPr kumimoji="1" lang="ja-JP" altLang="en-US" sz="1200" dirty="0">
                          <a:latin typeface="Meiryo UI" panose="020B0604030504040204" pitchFamily="50" charset="-128"/>
                          <a:ea typeface="Meiryo UI" panose="020B0604030504040204" pitchFamily="50" charset="-128"/>
                        </a:rPr>
                        <a:t>○○人</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1" lang="ja-JP" altLang="en-US" sz="1200">
                          <a:latin typeface="Meiryo UI" panose="020B0604030504040204" pitchFamily="50" charset="-128"/>
                          <a:ea typeface="Meiryo UI" panose="020B0604030504040204" pitchFamily="50" charset="-128"/>
                        </a:rPr>
                        <a:t>高齢化率</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ts val="1400"/>
                        </a:lnSpc>
                      </a:pPr>
                      <a:r>
                        <a:rPr kumimoji="1" lang="ja-JP" altLang="en-US" sz="1200" dirty="0">
                          <a:latin typeface="Meiryo UI" panose="020B0604030504040204" pitchFamily="50" charset="-128"/>
                          <a:ea typeface="Meiryo UI" panose="020B0604030504040204" pitchFamily="50" charset="-128"/>
                        </a:rPr>
                        <a:t>○○％</a:t>
                      </a:r>
                      <a:endParaRPr kumimoji="1" lang="en-US" altLang="ja-JP" sz="1200" dirty="0">
                        <a:latin typeface="Meiryo UI" panose="020B0604030504040204" pitchFamily="50" charset="-128"/>
                        <a:ea typeface="Meiryo UI" panose="020B0604030504040204" pitchFamily="50" charset="-128"/>
                      </a:endParaRP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1214306"/>
                  </a:ext>
                </a:extLst>
              </a:tr>
              <a:tr h="190120">
                <a:tc>
                  <a:txBody>
                    <a:bodyPr/>
                    <a:lstStyle/>
                    <a:p>
                      <a:pPr>
                        <a:lnSpc>
                          <a:spcPts val="1400"/>
                        </a:lnSpc>
                      </a:pPr>
                      <a:r>
                        <a:rPr kumimoji="1" lang="ja-JP" altLang="en-US" sz="1200">
                          <a:latin typeface="Meiryo UI" panose="020B0604030504040204" pitchFamily="50" charset="-128"/>
                          <a:ea typeface="Meiryo UI" panose="020B0604030504040204" pitchFamily="50" charset="-128"/>
                        </a:rPr>
                        <a:t>可住地人口密度</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○○人</a:t>
                      </a:r>
                      <a:r>
                        <a:rPr kumimoji="1" lang="en-US" altLang="ja-JP" sz="1200" dirty="0">
                          <a:latin typeface="Meiryo UI" panose="020B0604030504040204" pitchFamily="50" charset="-128"/>
                          <a:ea typeface="Meiryo UI" panose="020B0604030504040204" pitchFamily="50" charset="-128"/>
                        </a:rPr>
                        <a:t>/km2</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200">
                          <a:latin typeface="Meiryo UI" panose="020B0604030504040204" pitchFamily="50" charset="-128"/>
                          <a:ea typeface="Meiryo UI" panose="020B0604030504040204" pitchFamily="50" charset="-128"/>
                        </a:rPr>
                        <a:t>昼夜間人口比率</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kumimoji="1" lang="ja-JP" altLang="en-US" sz="1200" dirty="0">
                          <a:latin typeface="Meiryo UI" panose="020B0604030504040204" pitchFamily="50" charset="-128"/>
                          <a:ea typeface="Meiryo UI" panose="020B0604030504040204" pitchFamily="50" charset="-128"/>
                        </a:rPr>
                        <a:t>○○％</a:t>
                      </a:r>
                      <a:endParaRPr kumimoji="1" lang="en-US" altLang="ja-JP" sz="1200" dirty="0">
                        <a:latin typeface="Meiryo UI" panose="020B0604030504040204" pitchFamily="50" charset="-128"/>
                        <a:ea typeface="Meiryo UI" panose="020B0604030504040204" pitchFamily="50" charset="-128"/>
                      </a:endParaRP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9167061"/>
                  </a:ext>
                </a:extLst>
              </a:tr>
              <a:tr h="331786">
                <a:tc>
                  <a:txBody>
                    <a:bodyPr/>
                    <a:lstStyle/>
                    <a:p>
                      <a:pPr>
                        <a:lnSpc>
                          <a:spcPts val="1400"/>
                        </a:lnSpc>
                      </a:pPr>
                      <a:r>
                        <a:rPr kumimoji="1" lang="ja-JP" altLang="en-US" sz="1200" dirty="0">
                          <a:latin typeface="Meiryo UI" panose="020B0604030504040204" pitchFamily="50" charset="-128"/>
                          <a:ea typeface="Meiryo UI" panose="020B0604030504040204" pitchFamily="50" charset="-128"/>
                        </a:rPr>
                        <a:t>都市の特徴・</a:t>
                      </a:r>
                      <a:endParaRPr kumimoji="1" lang="en-US" altLang="ja-JP" sz="1200" dirty="0">
                        <a:latin typeface="Meiryo UI" panose="020B0604030504040204" pitchFamily="50" charset="-128"/>
                        <a:ea typeface="Meiryo UI" panose="020B0604030504040204" pitchFamily="50" charset="-128"/>
                      </a:endParaRPr>
                    </a:p>
                    <a:p>
                      <a:pPr>
                        <a:lnSpc>
                          <a:spcPts val="1400"/>
                        </a:lnSpc>
                      </a:pPr>
                      <a:r>
                        <a:rPr kumimoji="1" lang="ja-JP" altLang="en-US" sz="1200" dirty="0">
                          <a:latin typeface="Meiryo UI" panose="020B0604030504040204" pitchFamily="50" charset="-128"/>
                          <a:ea typeface="Meiryo UI" panose="020B0604030504040204" pitchFamily="50" charset="-128"/>
                        </a:rPr>
                        <a:t>周辺地域との</a:t>
                      </a:r>
                      <a:endParaRPr kumimoji="1" lang="en-US" altLang="ja-JP" sz="1200" dirty="0">
                        <a:latin typeface="Meiryo UI" panose="020B0604030504040204" pitchFamily="50" charset="-128"/>
                        <a:ea typeface="Meiryo UI" panose="020B0604030504040204" pitchFamily="50" charset="-128"/>
                      </a:endParaRPr>
                    </a:p>
                    <a:p>
                      <a:pPr>
                        <a:lnSpc>
                          <a:spcPts val="1400"/>
                        </a:lnSpc>
                      </a:pPr>
                      <a:r>
                        <a:rPr kumimoji="1" lang="ja-JP" altLang="en-US" sz="1200" dirty="0">
                          <a:latin typeface="Meiryo UI" panose="020B0604030504040204" pitchFamily="50" charset="-128"/>
                          <a:ea typeface="Meiryo UI" panose="020B0604030504040204" pitchFamily="50" charset="-128"/>
                        </a:rPr>
                        <a:t>関わり</a:t>
                      </a:r>
                    </a:p>
                  </a:txBody>
                  <a:tcPr marL="33231" marR="33231" marT="33231" marB="33231">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a:lnSpc>
                          <a:spcPts val="1400"/>
                        </a:lnSpc>
                      </a:pPr>
                      <a:endParaRPr kumimoji="1" lang="en-US" altLang="ja-JP" sz="1200" dirty="0">
                        <a:latin typeface="Meiryo UI" panose="020B0604030504040204" pitchFamily="50" charset="-128"/>
                        <a:ea typeface="Meiryo UI" panose="020B0604030504040204" pitchFamily="50" charset="-128"/>
                      </a:endParaRPr>
                    </a:p>
                    <a:p>
                      <a:pPr>
                        <a:lnSpc>
                          <a:spcPts val="1400"/>
                        </a:lnSpc>
                      </a:pPr>
                      <a:endParaRPr kumimoji="1" lang="en-US" altLang="ja-JP" sz="1200" dirty="0">
                        <a:latin typeface="Meiryo UI" panose="020B0604030504040204" pitchFamily="50" charset="-128"/>
                        <a:ea typeface="Meiryo UI" panose="020B0604030504040204" pitchFamily="50" charset="-128"/>
                      </a:endParaRPr>
                    </a:p>
                    <a:p>
                      <a:pPr>
                        <a:lnSpc>
                          <a:spcPts val="1400"/>
                        </a:lnSpc>
                      </a:pPr>
                      <a:endParaRPr kumimoji="1" lang="en-US" altLang="ja-JP" sz="1200" dirty="0">
                        <a:latin typeface="Meiryo UI" panose="020B0604030504040204" pitchFamily="50" charset="-128"/>
                        <a:ea typeface="Meiryo UI" panose="020B0604030504040204" pitchFamily="50" charset="-128"/>
                      </a:endParaRPr>
                    </a:p>
                    <a:p>
                      <a:pPr>
                        <a:lnSpc>
                          <a:spcPts val="1400"/>
                        </a:lnSpc>
                      </a:pPr>
                      <a:endParaRPr kumimoji="1" lang="ja-JP" altLang="en-US" sz="1200" dirty="0">
                        <a:latin typeface="Meiryo UI" panose="020B0604030504040204" pitchFamily="50" charset="-128"/>
                        <a:ea typeface="Meiryo UI" panose="020B0604030504040204" pitchFamily="50" charset="-128"/>
                      </a:endParaRP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750312824"/>
                  </a:ext>
                </a:extLst>
              </a:tr>
              <a:tr h="190120">
                <a:tc>
                  <a:txBody>
                    <a:bodyPr/>
                    <a:lstStyle/>
                    <a:p>
                      <a:pPr>
                        <a:lnSpc>
                          <a:spcPts val="1400"/>
                        </a:lnSpc>
                      </a:pPr>
                      <a:r>
                        <a:rPr kumimoji="1" lang="ja-JP" altLang="en-US" sz="1200">
                          <a:latin typeface="Meiryo UI" panose="020B0604030504040204" pitchFamily="50" charset="-128"/>
                          <a:ea typeface="Meiryo UI" panose="020B0604030504040204" pitchFamily="50" charset="-128"/>
                        </a:rPr>
                        <a:t>将来都市像</a:t>
                      </a: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a:lnSpc>
                          <a:spcPts val="1400"/>
                        </a:lnSpc>
                      </a:pPr>
                      <a:endParaRPr kumimoji="1" lang="en-US" altLang="ja-JP" sz="1200" dirty="0">
                        <a:latin typeface="Meiryo UI" panose="020B0604030504040204" pitchFamily="50" charset="-128"/>
                        <a:ea typeface="Meiryo UI" panose="020B0604030504040204" pitchFamily="50" charset="-128"/>
                      </a:endParaRPr>
                    </a:p>
                    <a:p>
                      <a:pPr>
                        <a:lnSpc>
                          <a:spcPts val="1400"/>
                        </a:lnSpc>
                      </a:pPr>
                      <a:endParaRPr kumimoji="1" lang="en-US" altLang="ja-JP" sz="1200" dirty="0">
                        <a:latin typeface="Meiryo UI" panose="020B0604030504040204" pitchFamily="50" charset="-128"/>
                        <a:ea typeface="Meiryo UI" panose="020B0604030504040204" pitchFamily="50" charset="-128"/>
                      </a:endParaRPr>
                    </a:p>
                    <a:p>
                      <a:pPr>
                        <a:lnSpc>
                          <a:spcPts val="1400"/>
                        </a:lnSpc>
                      </a:pPr>
                      <a:endParaRPr kumimoji="1" lang="ja-JP" altLang="en-US" sz="1200" dirty="0">
                        <a:latin typeface="Meiryo UI" panose="020B0604030504040204" pitchFamily="50" charset="-128"/>
                        <a:ea typeface="Meiryo UI" panose="020B0604030504040204" pitchFamily="50" charset="-128"/>
                      </a:endParaRPr>
                    </a:p>
                  </a:txBody>
                  <a:tcPr marL="33231" marR="33231" marT="33231" marB="332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78904253"/>
                  </a:ext>
                </a:extLst>
              </a:tr>
            </a:tbl>
          </a:graphicData>
        </a:graphic>
      </p:graphicFrame>
      <p:sp>
        <p:nvSpPr>
          <p:cNvPr id="21" name="正方形/長方形 20">
            <a:extLst>
              <a:ext uri="{FF2B5EF4-FFF2-40B4-BE49-F238E27FC236}">
                <a16:creationId xmlns:a16="http://schemas.microsoft.com/office/drawing/2014/main" id="{E407A448-6DEC-4542-8C94-5F8DFF28BC31}"/>
              </a:ext>
            </a:extLst>
          </p:cNvPr>
          <p:cNvSpPr/>
          <p:nvPr/>
        </p:nvSpPr>
        <p:spPr>
          <a:xfrm>
            <a:off x="141195" y="3429000"/>
            <a:ext cx="5291865" cy="3217200"/>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11138" indent="-211138">
              <a:buClr>
                <a:srgbClr val="5A5A5A"/>
              </a:buClr>
              <a:buSzPct val="100000"/>
              <a:buFont typeface="Wingdings" panose="05000000000000000000" pitchFamily="2" charset="2"/>
              <a:buChar char="n"/>
            </a:pPr>
            <a:endParaRPr kumimoji="1" lang="en-US" altLang="ja-JP" sz="1400" dirty="0">
              <a:solidFill>
                <a:schemeClr val="tx1"/>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AA4FA070-17D5-4B54-844D-4E590C2180D3}"/>
              </a:ext>
            </a:extLst>
          </p:cNvPr>
          <p:cNvSpPr/>
          <p:nvPr/>
        </p:nvSpPr>
        <p:spPr>
          <a:xfrm>
            <a:off x="141195" y="1068355"/>
            <a:ext cx="5291865" cy="216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7D2030A4-88EB-41A3-9DA6-C3C5E12CB436}"/>
              </a:ext>
            </a:extLst>
          </p:cNvPr>
          <p:cNvSpPr txBox="1"/>
          <p:nvPr/>
        </p:nvSpPr>
        <p:spPr>
          <a:xfrm>
            <a:off x="698830" y="888530"/>
            <a:ext cx="646331" cy="369332"/>
          </a:xfrm>
          <a:prstGeom prst="rect">
            <a:avLst/>
          </a:prstGeom>
          <a:ln/>
        </p:spPr>
        <p:style>
          <a:lnRef idx="1">
            <a:schemeClr val="accent2"/>
          </a:lnRef>
          <a:fillRef idx="2">
            <a:schemeClr val="accent2"/>
          </a:fillRef>
          <a:effectRef idx="1">
            <a:schemeClr val="accent2"/>
          </a:effectRef>
          <a:fontRef idx="minor">
            <a:schemeClr val="dk1"/>
          </a:fontRef>
        </p:style>
        <p:txBody>
          <a:bodyPr wrap="none" rtlCol="0">
            <a:spAutoFit/>
          </a:bodyPr>
          <a:lstStyle/>
          <a:p>
            <a:pPr algn="l">
              <a:buClr>
                <a:srgbClr val="5A5A5A"/>
              </a:buClr>
              <a:buSzPct val="100000"/>
            </a:pPr>
            <a:r>
              <a:rPr kumimoji="1" lang="ja-JP" altLang="en-US">
                <a:latin typeface="Meiryo UI" panose="020B0604030504040204" pitchFamily="50" charset="-128"/>
                <a:ea typeface="Meiryo UI" panose="020B0604030504040204" pitchFamily="50" charset="-128"/>
              </a:rPr>
              <a:t>概要</a:t>
            </a:r>
          </a:p>
        </p:txBody>
      </p:sp>
      <p:sp>
        <p:nvSpPr>
          <p:cNvPr id="29" name="正方形/長方形 28">
            <a:extLst>
              <a:ext uri="{FF2B5EF4-FFF2-40B4-BE49-F238E27FC236}">
                <a16:creationId xmlns:a16="http://schemas.microsoft.com/office/drawing/2014/main" id="{AD2DDE9D-53BF-4339-A08F-4480C4993A37}"/>
              </a:ext>
            </a:extLst>
          </p:cNvPr>
          <p:cNvSpPr/>
          <p:nvPr/>
        </p:nvSpPr>
        <p:spPr>
          <a:xfrm>
            <a:off x="5608321" y="1068355"/>
            <a:ext cx="6371520" cy="55778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06CD0A26-11B5-4164-9234-6E851321547D}"/>
              </a:ext>
            </a:extLst>
          </p:cNvPr>
          <p:cNvSpPr txBox="1"/>
          <p:nvPr/>
        </p:nvSpPr>
        <p:spPr>
          <a:xfrm>
            <a:off x="7917880" y="908553"/>
            <a:ext cx="1752403"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pPr algn="l">
              <a:buClr>
                <a:srgbClr val="5A5A5A"/>
              </a:buClr>
              <a:buSzPct val="100000"/>
            </a:pPr>
            <a:r>
              <a:rPr kumimoji="1" lang="ja-JP" altLang="en-US" dirty="0">
                <a:latin typeface="Meiryo UI" panose="020B0604030504040204" pitchFamily="50" charset="-128"/>
                <a:ea typeface="Meiryo UI" panose="020B0604030504040204" pitchFamily="50" charset="-128"/>
              </a:rPr>
              <a:t>カテゴリー別グラフ</a:t>
            </a:r>
          </a:p>
        </p:txBody>
      </p:sp>
      <p:sp>
        <p:nvSpPr>
          <p:cNvPr id="24" name="テキスト ボックス 23">
            <a:extLst>
              <a:ext uri="{FF2B5EF4-FFF2-40B4-BE49-F238E27FC236}">
                <a16:creationId xmlns:a16="http://schemas.microsoft.com/office/drawing/2014/main" id="{E7FCAFDF-E9E1-4488-BC65-97EDBBE106EC}"/>
              </a:ext>
            </a:extLst>
          </p:cNvPr>
          <p:cNvSpPr txBox="1"/>
          <p:nvPr/>
        </p:nvSpPr>
        <p:spPr>
          <a:xfrm>
            <a:off x="698830" y="3271537"/>
            <a:ext cx="872355" cy="369332"/>
          </a:xfrm>
          <a:prstGeom prst="rect">
            <a:avLst/>
          </a:prstGeom>
          <a:ln/>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buClr>
                <a:srgbClr val="5A5A5A"/>
              </a:buClr>
              <a:buSzPct val="100000"/>
            </a:pPr>
            <a:r>
              <a:rPr kumimoji="1" lang="ja-JP" altLang="en-US">
                <a:latin typeface="Meiryo UI" panose="020B0604030504040204" pitchFamily="50" charset="-128"/>
                <a:ea typeface="Meiryo UI" panose="020B0604030504040204" pitchFamily="50" charset="-128"/>
              </a:rPr>
              <a:t>サマリー</a:t>
            </a:r>
          </a:p>
        </p:txBody>
      </p:sp>
      <p:sp>
        <p:nvSpPr>
          <p:cNvPr id="26" name="四角形: 角を丸くする 25">
            <a:extLst>
              <a:ext uri="{FF2B5EF4-FFF2-40B4-BE49-F238E27FC236}">
                <a16:creationId xmlns:a16="http://schemas.microsoft.com/office/drawing/2014/main" id="{47891EB4-D813-450C-ADBD-CAB322CEA0E7}"/>
              </a:ext>
            </a:extLst>
          </p:cNvPr>
          <p:cNvSpPr/>
          <p:nvPr/>
        </p:nvSpPr>
        <p:spPr>
          <a:xfrm>
            <a:off x="1671127" y="4596547"/>
            <a:ext cx="2232000" cy="88210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右側のグラフ等についてのコメントを入力</a:t>
            </a:r>
          </a:p>
        </p:txBody>
      </p:sp>
      <p:sp>
        <p:nvSpPr>
          <p:cNvPr id="13" name="四角形: 角を丸くする 12">
            <a:extLst>
              <a:ext uri="{FF2B5EF4-FFF2-40B4-BE49-F238E27FC236}">
                <a16:creationId xmlns:a16="http://schemas.microsoft.com/office/drawing/2014/main" id="{8C0B99E8-B643-458A-AB17-DA92BD270727}"/>
              </a:ext>
            </a:extLst>
          </p:cNvPr>
          <p:cNvSpPr/>
          <p:nvPr/>
        </p:nvSpPr>
        <p:spPr>
          <a:xfrm>
            <a:off x="7678081" y="3416225"/>
            <a:ext cx="2232000" cy="882105"/>
          </a:xfrm>
          <a:prstGeom prst="round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latin typeface="Meiryo UI" panose="020B0604030504040204" pitchFamily="50" charset="-128"/>
                <a:ea typeface="Meiryo UI" panose="020B0604030504040204" pitchFamily="50" charset="-128"/>
              </a:rPr>
              <a:t>「カテゴリー別グラフ」</a:t>
            </a:r>
            <a:endParaRPr kumimoji="1" lang="en-US" altLang="ja-JP" b="1" dirty="0">
              <a:solidFill>
                <a:schemeClr val="tx1"/>
              </a:solidFill>
              <a:latin typeface="Meiryo UI" panose="020B0604030504040204" pitchFamily="50" charset="-128"/>
              <a:ea typeface="Meiryo UI" panose="020B0604030504040204" pitchFamily="50" charset="-128"/>
            </a:endParaRPr>
          </a:p>
          <a:p>
            <a:pPr algn="ctr"/>
            <a:r>
              <a:rPr kumimoji="1" lang="ja-JP" altLang="en-US" b="1" dirty="0">
                <a:solidFill>
                  <a:schemeClr val="tx1"/>
                </a:solidFill>
                <a:latin typeface="Meiryo UI" panose="020B0604030504040204" pitchFamily="50" charset="-128"/>
                <a:ea typeface="Meiryo UI" panose="020B0604030504040204" pitchFamily="50" charset="-128"/>
              </a:rPr>
              <a:t>の画像を貼り付け</a:t>
            </a:r>
          </a:p>
        </p:txBody>
      </p:sp>
      <p:sp>
        <p:nvSpPr>
          <p:cNvPr id="3" name="正方形/長方形 2">
            <a:extLst>
              <a:ext uri="{FF2B5EF4-FFF2-40B4-BE49-F238E27FC236}">
                <a16:creationId xmlns:a16="http://schemas.microsoft.com/office/drawing/2014/main" id="{C8D58374-CE84-43C7-9A51-E138BC3E56FE}"/>
              </a:ext>
            </a:extLst>
          </p:cNvPr>
          <p:cNvSpPr/>
          <p:nvPr/>
        </p:nvSpPr>
        <p:spPr>
          <a:xfrm>
            <a:off x="3778317" y="223338"/>
            <a:ext cx="4968815"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ダッシュボードのテンプレートに記載されてた</a:t>
            </a:r>
          </a:p>
        </p:txBody>
      </p:sp>
    </p:spTree>
    <p:extLst>
      <p:ext uri="{BB962C8B-B14F-4D97-AF65-F5344CB8AC3E}">
        <p14:creationId xmlns:p14="http://schemas.microsoft.com/office/powerpoint/2010/main" val="2140811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675F12-9F66-40BA-A79C-ABFB34CCBF39}"/>
              </a:ext>
            </a:extLst>
          </p:cNvPr>
          <p:cNvSpPr>
            <a:spLocks noGrp="1"/>
          </p:cNvSpPr>
          <p:nvPr>
            <p:ph type="title"/>
          </p:nvPr>
        </p:nvSpPr>
        <p:spPr/>
        <p:txBody>
          <a:bodyPr/>
          <a:lstStyle/>
          <a:p>
            <a:r>
              <a:rPr kumimoji="1" lang="ja-JP" altLang="en-US" dirty="0"/>
              <a:t>登場のきっかけは</a:t>
            </a:r>
          </a:p>
        </p:txBody>
      </p:sp>
      <p:sp>
        <p:nvSpPr>
          <p:cNvPr id="3" name="コンテンツ プレースホルダー 2">
            <a:extLst>
              <a:ext uri="{FF2B5EF4-FFF2-40B4-BE49-F238E27FC236}">
                <a16:creationId xmlns:a16="http://schemas.microsoft.com/office/drawing/2014/main" id="{F3478EF3-5B31-47AA-A3E6-05275F17950E}"/>
              </a:ext>
            </a:extLst>
          </p:cNvPr>
          <p:cNvSpPr>
            <a:spLocks noGrp="1"/>
          </p:cNvSpPr>
          <p:nvPr>
            <p:ph idx="1"/>
          </p:nvPr>
        </p:nvSpPr>
        <p:spPr/>
        <p:txBody>
          <a:bodyPr/>
          <a:lstStyle/>
          <a:p>
            <a:r>
              <a:rPr kumimoji="1" lang="en-US" altLang="ja-JP" dirty="0">
                <a:latin typeface="+mj-lt"/>
              </a:rPr>
              <a:t>1946</a:t>
            </a:r>
            <a:r>
              <a:rPr kumimoji="1" lang="ja-JP" altLang="en-US" dirty="0">
                <a:latin typeface="+mj-lt"/>
              </a:rPr>
              <a:t>年に設立された</a:t>
            </a:r>
            <a:r>
              <a:rPr kumimoji="1" lang="en-US" altLang="ja-JP" dirty="0">
                <a:latin typeface="+mj-lt"/>
              </a:rPr>
              <a:t>WHO</a:t>
            </a:r>
            <a:r>
              <a:rPr kumimoji="1" lang="ja-JP" altLang="en-US" dirty="0">
                <a:latin typeface="+mj-lt"/>
              </a:rPr>
              <a:t>（世界保健機関）の憲章の中で、</a:t>
            </a:r>
            <a:br>
              <a:rPr kumimoji="1" lang="en-US" altLang="ja-JP" dirty="0">
                <a:latin typeface="+mj-lt"/>
              </a:rPr>
            </a:br>
            <a:r>
              <a:rPr kumimoji="1" lang="ja-JP" altLang="en-US" dirty="0">
                <a:latin typeface="+mj-lt"/>
              </a:rPr>
              <a:t>設立者の</a:t>
            </a:r>
            <a:r>
              <a:rPr kumimoji="1" lang="en-US" altLang="ja-JP" dirty="0">
                <a:latin typeface="+mj-lt"/>
              </a:rPr>
              <a:t>1</a:t>
            </a:r>
            <a:r>
              <a:rPr kumimoji="1" lang="ja-JP" altLang="en-US" dirty="0">
                <a:latin typeface="+mj-lt"/>
              </a:rPr>
              <a:t>人であるスーミン・スー博士が「健康」を</a:t>
            </a:r>
            <a:br>
              <a:rPr kumimoji="1" lang="en-US" altLang="ja-JP" dirty="0">
                <a:latin typeface="+mj-lt"/>
              </a:rPr>
            </a:br>
            <a:r>
              <a:rPr kumimoji="1" lang="ja-JP" altLang="en-US" dirty="0">
                <a:latin typeface="+mj-lt"/>
              </a:rPr>
              <a:t>定義するために用いたこと</a:t>
            </a:r>
          </a:p>
        </p:txBody>
      </p:sp>
      <p:sp>
        <p:nvSpPr>
          <p:cNvPr id="4" name="正方形/長方形 3">
            <a:extLst>
              <a:ext uri="{FF2B5EF4-FFF2-40B4-BE49-F238E27FC236}">
                <a16:creationId xmlns:a16="http://schemas.microsoft.com/office/drawing/2014/main" id="{4EDAA736-B4AD-4A9F-9B11-DB40758E85F7}"/>
              </a:ext>
            </a:extLst>
          </p:cNvPr>
          <p:cNvSpPr/>
          <p:nvPr/>
        </p:nvSpPr>
        <p:spPr>
          <a:xfrm>
            <a:off x="1431234" y="3429000"/>
            <a:ext cx="9144000" cy="2677656"/>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spAutoFit/>
          </a:bodyPr>
          <a:lstStyle/>
          <a:p>
            <a:pPr algn="ctr"/>
            <a:r>
              <a:rPr kumimoji="1" lang="en-US" altLang="ja-JP" sz="2800" dirty="0"/>
              <a:t>Health is a state of complete physical, mental and social well-being and not merely the absence of disease or infirmity.</a:t>
            </a:r>
          </a:p>
          <a:p>
            <a:pPr algn="ctr"/>
            <a:r>
              <a:rPr kumimoji="1" lang="ja-JP" altLang="en-US" sz="2800" dirty="0"/>
              <a:t>健康は、完全な肉体的、精神的及び社会的福祉の状態であり、単に疾病又は病弱の存在しないことではない</a:t>
            </a:r>
          </a:p>
          <a:p>
            <a:pPr algn="ctr"/>
            <a:r>
              <a:rPr kumimoji="1" lang="ja-JP" altLang="en-US" sz="2800" dirty="0"/>
              <a:t>出典：厚生労働省 昭和</a:t>
            </a:r>
            <a:r>
              <a:rPr kumimoji="1" lang="en-US" altLang="ja-JP" sz="2800" dirty="0"/>
              <a:t>26</a:t>
            </a:r>
            <a:r>
              <a:rPr kumimoji="1" lang="ja-JP" altLang="en-US" sz="2800" dirty="0"/>
              <a:t>年官報掲載の訳</a:t>
            </a:r>
          </a:p>
        </p:txBody>
      </p:sp>
    </p:spTree>
    <p:extLst>
      <p:ext uri="{BB962C8B-B14F-4D97-AF65-F5344CB8AC3E}">
        <p14:creationId xmlns:p14="http://schemas.microsoft.com/office/powerpoint/2010/main" val="238771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AA63A3-928B-4B04-99A8-A69868DC3E7C}"/>
              </a:ext>
            </a:extLst>
          </p:cNvPr>
          <p:cNvSpPr>
            <a:spLocks noGrp="1"/>
          </p:cNvSpPr>
          <p:nvPr>
            <p:ph type="title"/>
          </p:nvPr>
        </p:nvSpPr>
        <p:spPr/>
        <p:txBody>
          <a:bodyPr/>
          <a:lstStyle/>
          <a:p>
            <a:r>
              <a:rPr kumimoji="1" lang="en-US" altLang="ja-JP" dirty="0"/>
              <a:t>Well-being</a:t>
            </a:r>
            <a:r>
              <a:rPr kumimoji="1" lang="ja-JP" altLang="en-US" dirty="0"/>
              <a:t>と</a:t>
            </a:r>
            <a:r>
              <a:rPr kumimoji="1" lang="en-US" altLang="ja-JP" dirty="0"/>
              <a:t>Happiness</a:t>
            </a:r>
            <a:r>
              <a:rPr kumimoji="1" lang="ja-JP" altLang="en-US" dirty="0"/>
              <a:t>の違い</a:t>
            </a:r>
          </a:p>
        </p:txBody>
      </p:sp>
      <p:sp>
        <p:nvSpPr>
          <p:cNvPr id="3" name="コンテンツ プレースホルダー 2">
            <a:extLst>
              <a:ext uri="{FF2B5EF4-FFF2-40B4-BE49-F238E27FC236}">
                <a16:creationId xmlns:a16="http://schemas.microsoft.com/office/drawing/2014/main" id="{DAA6E693-832F-4B54-89B8-791C916B2FFC}"/>
              </a:ext>
            </a:extLst>
          </p:cNvPr>
          <p:cNvSpPr>
            <a:spLocks noGrp="1"/>
          </p:cNvSpPr>
          <p:nvPr>
            <p:ph idx="1"/>
          </p:nvPr>
        </p:nvSpPr>
        <p:spPr/>
        <p:txBody>
          <a:bodyPr/>
          <a:lstStyle/>
          <a:p>
            <a:r>
              <a:rPr kumimoji="1" lang="en-US" altLang="ja-JP" dirty="0"/>
              <a:t>Well-being</a:t>
            </a:r>
            <a:r>
              <a:rPr kumimoji="1" lang="ja-JP" altLang="en-US" dirty="0"/>
              <a:t>と似た意味を持つ言葉「</a:t>
            </a:r>
            <a:r>
              <a:rPr kumimoji="1" lang="en-US" altLang="ja-JP" dirty="0"/>
              <a:t>Happiness</a:t>
            </a:r>
            <a:r>
              <a:rPr kumimoji="1" lang="ja-JP" altLang="en-US" dirty="0"/>
              <a:t>（幸福）」</a:t>
            </a:r>
            <a:br>
              <a:rPr kumimoji="1" lang="en-US" altLang="ja-JP" dirty="0"/>
            </a:br>
            <a:r>
              <a:rPr kumimoji="1" lang="ja-JP" altLang="en-US" dirty="0"/>
              <a:t>があるが、</a:t>
            </a:r>
            <a:r>
              <a:rPr kumimoji="1" lang="en-US" altLang="ja-JP" dirty="0"/>
              <a:t>Happiness</a:t>
            </a:r>
            <a:r>
              <a:rPr kumimoji="1" lang="ja-JP" altLang="en-US" dirty="0"/>
              <a:t>は主に精神面での幸せを指す一方で、</a:t>
            </a:r>
            <a:br>
              <a:rPr kumimoji="1" lang="en-US" altLang="ja-JP" dirty="0"/>
            </a:br>
            <a:r>
              <a:rPr kumimoji="1" lang="en-US" altLang="ja-JP" dirty="0"/>
              <a:t>Well-being</a:t>
            </a:r>
            <a:r>
              <a:rPr kumimoji="1" lang="ja-JP" altLang="en-US" dirty="0"/>
              <a:t>はもっと範囲の広い、</a:t>
            </a:r>
            <a:r>
              <a:rPr kumimoji="1" lang="ja-JP" altLang="en-US" dirty="0">
                <a:solidFill>
                  <a:srgbClr val="FF0000"/>
                </a:solidFill>
              </a:rPr>
              <a:t>身体的・精神的・社会的</a:t>
            </a:r>
            <a:r>
              <a:rPr kumimoji="1" lang="ja-JP" altLang="en-US" dirty="0"/>
              <a:t>に</a:t>
            </a:r>
            <a:br>
              <a:rPr kumimoji="1" lang="en-US" altLang="ja-JP" dirty="0"/>
            </a:br>
            <a:r>
              <a:rPr kumimoji="1" lang="ja-JP" altLang="en-US" dirty="0"/>
              <a:t>満たされた状態</a:t>
            </a:r>
          </a:p>
        </p:txBody>
      </p:sp>
      <p:pic>
        <p:nvPicPr>
          <p:cNvPr id="2050" name="Picture 2" descr="身体的・心理的・社会的Well-beingを示す3つの要素の図">
            <a:extLst>
              <a:ext uri="{FF2B5EF4-FFF2-40B4-BE49-F238E27FC236}">
                <a16:creationId xmlns:a16="http://schemas.microsoft.com/office/drawing/2014/main" id="{A236E44A-43DB-4699-A0E6-D5BDF8DF79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8510" y="3429000"/>
            <a:ext cx="4394980" cy="3148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283919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1320</TotalTime>
  <Words>507</Words>
  <Application>Microsoft Office PowerPoint</Application>
  <PresentationFormat>ワイド画面</PresentationFormat>
  <Paragraphs>58</Paragraphs>
  <Slides>16</Slides>
  <Notes>1</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Meiryo UI</vt:lpstr>
      <vt:lpstr>游ゴシック</vt:lpstr>
      <vt:lpstr>游ゴシック Light</vt:lpstr>
      <vt:lpstr>Arial</vt:lpstr>
      <vt:lpstr>Wingdings</vt:lpstr>
      <vt:lpstr>Office テーマ</vt:lpstr>
      <vt:lpstr>Well-being</vt:lpstr>
      <vt:lpstr>背景で書く内容</vt:lpstr>
      <vt:lpstr>Well-beingとは？？</vt:lpstr>
      <vt:lpstr>主観的Well-beingと客観的Well-being</vt:lpstr>
      <vt:lpstr>日本のWell-beingはどのような状況？</vt:lpstr>
      <vt:lpstr>なぜ今、注目されているのか？</vt:lpstr>
      <vt:lpstr>参考</vt:lpstr>
      <vt:lpstr>データ説明</vt:lpstr>
      <vt:lpstr>ダッシュボード概要</vt:lpstr>
      <vt:lpstr>PowerPoint プレゼンテーション</vt:lpstr>
      <vt:lpstr>個別KPI一覧（１）</vt:lpstr>
      <vt:lpstr>個別KPI一覧（２）</vt:lpstr>
      <vt:lpstr>PowerPoint プレゼンテーション</vt:lpstr>
      <vt:lpstr>●●市の概要</vt:lpstr>
      <vt:lpstr>登場のきっかけは</vt:lpstr>
      <vt:lpstr>Well-beingとHappinessの違い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Well-being</dc:title>
  <dc:creator>nishimura</dc:creator>
  <cp:lastModifiedBy>nishimura</cp:lastModifiedBy>
  <cp:revision>23</cp:revision>
  <dcterms:created xsi:type="dcterms:W3CDTF">2026-05-11T08:26:28Z</dcterms:created>
  <dcterms:modified xsi:type="dcterms:W3CDTF">2026-10-07T14:22:06Z</dcterms:modified>
</cp:coreProperties>
</file>